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9" r:id="rId4"/>
    <p:sldId id="261" r:id="rId5"/>
    <p:sldId id="270" r:id="rId6"/>
    <p:sldId id="264" r:id="rId7"/>
    <p:sldId id="265" r:id="rId8"/>
    <p:sldId id="267" r:id="rId9"/>
    <p:sldId id="266" r:id="rId10"/>
    <p:sldId id="268" r:id="rId11"/>
  </p:sldIdLst>
  <p:sldSz cx="18288000" cy="10287000"/>
  <p:notesSz cx="6858000" cy="9144000"/>
  <p:embeddedFontLst>
    <p:embeddedFont>
      <p:font typeface="Berlin Sans FB" panose="020E0602020502020306" pitchFamily="34" charset="0"/>
      <p:regular r:id="rId13"/>
      <p:bold r:id="rId14"/>
    </p:embeddedFont>
    <p:embeddedFont>
      <p:font typeface="Berlin Sans FB Demi" panose="020E0802020502020306" pitchFamily="34" charset="0"/>
      <p:bold r:id="rId15"/>
    </p:embeddedFont>
    <p:embeddedFont>
      <p:font typeface="Montserrat" panose="00000500000000000000" pitchFamily="2" charset="0"/>
      <p:regular r:id="rId16"/>
      <p:bold r:id="rId17"/>
      <p:italic r:id="rId18"/>
      <p:boldItalic r:id="rId19"/>
    </p:embeddedFont>
    <p:embeddedFont>
      <p:font typeface="Montserrat Bold" panose="00000800000000000000" charset="0"/>
      <p:regular r:id="rId20"/>
    </p:embeddedFont>
    <p:embeddedFont>
      <p:font typeface="Poppins" panose="00000500000000000000" pitchFamily="2" charset="0"/>
      <p:regular r:id="rId21"/>
      <p:bold r:id="rId22"/>
      <p:italic r:id="rId23"/>
      <p:boldItalic r:id="rId24"/>
    </p:embeddedFont>
    <p:embeddedFont>
      <p:font typeface="Poppins Bold" panose="00000800000000000000"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D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4622" autoAdjust="0"/>
  </p:normalViewPr>
  <p:slideViewPr>
    <p:cSldViewPr>
      <p:cViewPr varScale="1">
        <p:scale>
          <a:sx n="51" d="100"/>
          <a:sy n="51" d="100"/>
        </p:scale>
        <p:origin x="57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D94D5-AFAA-46DE-8125-7188EC7F39D0}" type="datetimeFigureOut">
              <a:rPr lang="en-IN" smtClean="0"/>
              <a:t>03-03-2026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981D91-9AD0-447D-A889-1329D0C9D591}" type="slidenum">
              <a:rPr lang="en-IN" smtClean="0"/>
              <a:t>‹#›</a:t>
            </a:fld>
            <a:endParaRPr lang="en-IN"/>
          </a:p>
        </p:txBody>
      </p:sp>
    </p:spTree>
    <p:extLst>
      <p:ext uri="{BB962C8B-B14F-4D97-AF65-F5344CB8AC3E}">
        <p14:creationId xmlns:p14="http://schemas.microsoft.com/office/powerpoint/2010/main" val="2494345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First, Perception and Goal Definition.</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In this stage, the AI agent receives the raw news text as input and clearly defines its objective — which is to detect whether the news is real or fake.</a:t>
            </a:r>
            <a:endParaRPr lang="en-US" b="0" dirty="0">
              <a:effectLst/>
            </a:endParaRPr>
          </a:p>
          <a:p>
            <a:pPr rtl="0"/>
            <a:r>
              <a:rPr lang="en-US" sz="1200" b="0" i="0" u="none" strike="noStrike" kern="1200" dirty="0">
                <a:solidFill>
                  <a:schemeClr val="tx1"/>
                </a:solidFill>
                <a:effectLst/>
                <a:latin typeface="+mn-lt"/>
                <a:ea typeface="+mn-ea"/>
                <a:cs typeface="+mn-cs"/>
              </a:rPr>
              <a:t>Second, Reasoning and Planning.</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Here, the system processes the text using TF-IDF to extract important features. Based on these features, it plans how to analyze the data using the trained machine learning model.</a:t>
            </a:r>
            <a:endParaRPr lang="en-US" b="0" dirty="0">
              <a:effectLst/>
            </a:endParaRPr>
          </a:p>
          <a:p>
            <a:pPr rtl="0"/>
            <a:r>
              <a:rPr lang="en-US" sz="1200" b="0" i="0" u="none" strike="noStrike" kern="1200" dirty="0">
                <a:solidFill>
                  <a:schemeClr val="tx1"/>
                </a:solidFill>
                <a:effectLst/>
                <a:latin typeface="+mn-lt"/>
                <a:ea typeface="+mn-ea"/>
                <a:cs typeface="+mn-cs"/>
              </a:rPr>
              <a:t>Third, Execution via Tools.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In this stage, the machine learning model is applied to the processed data. The system executes the classification process and predicts whether the news is real or fake.</a:t>
            </a:r>
            <a:endParaRPr lang="en-US" b="0" dirty="0">
              <a:effectLst/>
            </a:endParaRPr>
          </a:p>
          <a:p>
            <a:r>
              <a:rPr lang="en-US" sz="1200" b="0" i="0" u="none" strike="noStrike" kern="1200" dirty="0">
                <a:solidFill>
                  <a:schemeClr val="tx1"/>
                </a:solidFill>
                <a:effectLst/>
                <a:latin typeface="+mn-lt"/>
                <a:ea typeface="+mn-ea"/>
                <a:cs typeface="+mn-cs"/>
              </a:rPr>
              <a:t>Finally, Memory and Reflection.</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The system stores patterns from previous data and continuously improves its accuracy over time. This allows the AI agent to become smarter and more reliable with experience.”</a:t>
            </a:r>
            <a:endParaRPr lang="en-IN" dirty="0"/>
          </a:p>
        </p:txBody>
      </p:sp>
      <p:sp>
        <p:nvSpPr>
          <p:cNvPr id="4" name="Slide Number Placeholder 3"/>
          <p:cNvSpPr>
            <a:spLocks noGrp="1"/>
          </p:cNvSpPr>
          <p:nvPr>
            <p:ph type="sldNum" sz="quarter" idx="5"/>
          </p:nvPr>
        </p:nvSpPr>
        <p:spPr/>
        <p:txBody>
          <a:bodyPr/>
          <a:lstStyle/>
          <a:p>
            <a:fld id="{82981D91-9AD0-447D-A889-1329D0C9D591}" type="slidenum">
              <a:rPr lang="en-IN" smtClean="0"/>
              <a:t>8</a:t>
            </a:fld>
            <a:endParaRPr lang="en-IN"/>
          </a:p>
        </p:txBody>
      </p:sp>
    </p:spTree>
    <p:extLst>
      <p:ext uri="{BB962C8B-B14F-4D97-AF65-F5344CB8AC3E}">
        <p14:creationId xmlns:p14="http://schemas.microsoft.com/office/powerpoint/2010/main" val="2976623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Basically, this AI agent works just like a smart decision-maker. It first understands the data it receives, then thinks about it, analyzes patterns, and finally makes a decision on its own.</a:t>
            </a:r>
            <a:endParaRPr lang="en-US" b="0" dirty="0">
              <a:effectLst/>
            </a:endParaRPr>
          </a:p>
          <a:p>
            <a:pPr rtl="0"/>
            <a:r>
              <a:rPr lang="en-US" sz="1200" b="0" i="0" u="none" strike="noStrike" kern="1200" dirty="0">
                <a:solidFill>
                  <a:schemeClr val="tx1"/>
                </a:solidFill>
                <a:effectLst/>
                <a:latin typeface="+mn-lt"/>
                <a:ea typeface="+mn-ea"/>
                <a:cs typeface="+mn-cs"/>
              </a:rPr>
              <a:t>As it keeps processing more data, it learns from its experience and becomes more accurate over time. Overall, this shows how intelligent systems can handle complex tasks in a simple, efficient, and reliable way</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2981D91-9AD0-447D-A889-1329D0C9D591}" type="slidenum">
              <a:rPr lang="en-IN" smtClean="0"/>
              <a:t>9</a:t>
            </a:fld>
            <a:endParaRPr lang="en-IN"/>
          </a:p>
        </p:txBody>
      </p:sp>
    </p:spTree>
    <p:extLst>
      <p:ext uri="{BB962C8B-B14F-4D97-AF65-F5344CB8AC3E}">
        <p14:creationId xmlns:p14="http://schemas.microsoft.com/office/powerpoint/2010/main" val="221888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6" name="TextBox 6"/>
          <p:cNvSpPr txBox="1"/>
          <p:nvPr/>
        </p:nvSpPr>
        <p:spPr>
          <a:xfrm>
            <a:off x="966354" y="4686462"/>
            <a:ext cx="13887883" cy="1901418"/>
          </a:xfrm>
          <a:prstGeom prst="rect">
            <a:avLst/>
          </a:prstGeom>
        </p:spPr>
        <p:txBody>
          <a:bodyPr wrap="square" lIns="0" tIns="0" rIns="0" bIns="0" rtlCol="0" anchor="t">
            <a:spAutoFit/>
          </a:bodyPr>
          <a:lstStyle/>
          <a:p>
            <a:pPr algn="l">
              <a:lnSpc>
                <a:spcPts val="12819"/>
              </a:lnSpc>
              <a:spcBef>
                <a:spcPct val="0"/>
              </a:spcBef>
            </a:pPr>
            <a:r>
              <a:rPr lang="en-US" sz="23900" dirty="0">
                <a:solidFill>
                  <a:schemeClr val="accent1"/>
                </a:solidFill>
                <a:latin typeface="Berlin Sans FB Demi" panose="020E0802020502020306" pitchFamily="34" charset="0"/>
                <a:ea typeface="Montserrat"/>
                <a:cs typeface="Montserrat"/>
                <a:sym typeface="Montserrat"/>
              </a:rPr>
              <a:t>AI Agent</a:t>
            </a:r>
          </a:p>
        </p:txBody>
      </p:sp>
      <p:grpSp>
        <p:nvGrpSpPr>
          <p:cNvPr id="7" name="Group 7"/>
          <p:cNvGrpSpPr/>
          <p:nvPr/>
        </p:nvGrpSpPr>
        <p:grpSpPr>
          <a:xfrm>
            <a:off x="13079135" y="-1342571"/>
            <a:ext cx="6505997" cy="3735531"/>
            <a:chOff x="76200" y="-25952"/>
            <a:chExt cx="1415615" cy="812800"/>
          </a:xfrm>
        </p:grpSpPr>
        <p:sp>
          <p:nvSpPr>
            <p:cNvPr id="8" name="Freeform 8"/>
            <p:cNvSpPr/>
            <p:nvPr/>
          </p:nvSpPr>
          <p:spPr>
            <a:xfrm>
              <a:off x="679015" y="-25952"/>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txBody>
            <a:bodyPr/>
            <a:lstStyle/>
            <a:p>
              <a:endParaRPr lang="en-IN" dirty="0"/>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10" name="Group 10"/>
          <p:cNvGrpSpPr/>
          <p:nvPr/>
        </p:nvGrpSpPr>
        <p:grpSpPr>
          <a:xfrm>
            <a:off x="0" y="-643475"/>
            <a:ext cx="4114799" cy="394363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IN" dirty="0"/>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13" name="Group 13"/>
          <p:cNvGrpSpPr/>
          <p:nvPr/>
        </p:nvGrpSpPr>
        <p:grpSpPr>
          <a:xfrm>
            <a:off x="-1929195" y="8389571"/>
            <a:ext cx="3735531" cy="373553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txBody>
            <a:bodyPr/>
            <a:lstStyle/>
            <a:p>
              <a:endParaRPr lang="en-IN" dirty="0"/>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dirty="0"/>
            </a:p>
          </p:txBody>
        </p:sp>
      </p:grpSp>
      <p:sp>
        <p:nvSpPr>
          <p:cNvPr id="28" name="TextBox 27">
            <a:extLst>
              <a:ext uri="{FF2B5EF4-FFF2-40B4-BE49-F238E27FC236}">
                <a16:creationId xmlns:a16="http://schemas.microsoft.com/office/drawing/2014/main" id="{651FFBE2-4F5B-E1E5-7902-BE70FCB2CD15}"/>
              </a:ext>
            </a:extLst>
          </p:cNvPr>
          <p:cNvSpPr txBox="1"/>
          <p:nvPr/>
        </p:nvSpPr>
        <p:spPr>
          <a:xfrm>
            <a:off x="7340323" y="3899085"/>
            <a:ext cx="11515724" cy="1200329"/>
          </a:xfrm>
          <a:prstGeom prst="rect">
            <a:avLst/>
          </a:prstGeom>
          <a:noFill/>
        </p:spPr>
        <p:txBody>
          <a:bodyPr wrap="square">
            <a:spAutoFit/>
          </a:bodyPr>
          <a:lstStyle/>
          <a:p>
            <a:br>
              <a:rPr lang="en-IN" dirty="0"/>
            </a:br>
            <a:endParaRPr lang="en-IN" dirty="0"/>
          </a:p>
          <a:p>
            <a:br>
              <a:rPr lang="en-IN" b="1" dirty="0"/>
            </a:br>
            <a:endParaRPr lang="en-IN" dirty="0"/>
          </a:p>
        </p:txBody>
      </p:sp>
      <p:sp>
        <p:nvSpPr>
          <p:cNvPr id="30" name="TextBox 29">
            <a:extLst>
              <a:ext uri="{FF2B5EF4-FFF2-40B4-BE49-F238E27FC236}">
                <a16:creationId xmlns:a16="http://schemas.microsoft.com/office/drawing/2014/main" id="{09066251-FB1F-F806-EEB5-8B8C9B4492BC}"/>
              </a:ext>
            </a:extLst>
          </p:cNvPr>
          <p:cNvSpPr txBox="1"/>
          <p:nvPr/>
        </p:nvSpPr>
        <p:spPr>
          <a:xfrm>
            <a:off x="3357563" y="8153311"/>
            <a:ext cx="11515724" cy="1200329"/>
          </a:xfrm>
          <a:prstGeom prst="rect">
            <a:avLst/>
          </a:prstGeom>
          <a:noFill/>
        </p:spPr>
        <p:txBody>
          <a:bodyPr wrap="square">
            <a:spAutoFit/>
          </a:bodyPr>
          <a:lstStyle/>
          <a:p>
            <a:pPr algn="l">
              <a:buNone/>
            </a:pPr>
            <a:br>
              <a:rPr lang="en-IN" b="0" i="0" dirty="0">
                <a:solidFill>
                  <a:srgbClr val="211922"/>
                </a:solidFill>
                <a:effectLst/>
                <a:latin typeface="Pin Sans"/>
              </a:rPr>
            </a:br>
            <a:endParaRPr lang="en-IN" b="0" i="0" dirty="0">
              <a:solidFill>
                <a:srgbClr val="211922"/>
              </a:solidFill>
              <a:effectLst/>
              <a:latin typeface="Pin Sans"/>
            </a:endParaRPr>
          </a:p>
          <a:p>
            <a:pPr>
              <a:buNone/>
            </a:pPr>
            <a:br>
              <a:rPr lang="en-IN" b="1" i="0" dirty="0">
                <a:solidFill>
                  <a:srgbClr val="444444"/>
                </a:solidFill>
                <a:effectLst/>
                <a:latin typeface="Pin Sans"/>
              </a:rPr>
            </a:br>
            <a:endParaRPr lang="en-IN" dirty="0"/>
          </a:p>
        </p:txBody>
      </p:sp>
      <p:sp>
        <p:nvSpPr>
          <p:cNvPr id="31" name="Freeform 8">
            <a:extLst>
              <a:ext uri="{FF2B5EF4-FFF2-40B4-BE49-F238E27FC236}">
                <a16:creationId xmlns:a16="http://schemas.microsoft.com/office/drawing/2014/main" id="{E639F91F-8EB6-551D-8869-82DE6D6A1845}"/>
              </a:ext>
            </a:extLst>
          </p:cNvPr>
          <p:cNvSpPr/>
          <p:nvPr/>
        </p:nvSpPr>
        <p:spPr>
          <a:xfrm>
            <a:off x="13175810" y="3987881"/>
            <a:ext cx="6031098" cy="605825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txBody>
          <a:bodyPr/>
          <a:lstStyle/>
          <a:p>
            <a:endParaRPr lang="en-IN" dirty="0"/>
          </a:p>
        </p:txBody>
      </p:sp>
      <p:pic>
        <p:nvPicPr>
          <p:cNvPr id="1028" name="Picture 4" descr="This may contain: a robot sitting at a desk with a laptop in front of him and looking at the screen">
            <a:extLst>
              <a:ext uri="{FF2B5EF4-FFF2-40B4-BE49-F238E27FC236}">
                <a16:creationId xmlns:a16="http://schemas.microsoft.com/office/drawing/2014/main" id="{07570131-5B12-2D92-64E6-AA776637AF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65" y="-458618"/>
            <a:ext cx="3389057" cy="3389057"/>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CE8DD951-CA52-DF42-C24A-DBD5EB49FF94}"/>
              </a:ext>
            </a:extLst>
          </p:cNvPr>
          <p:cNvSpPr txBox="1"/>
          <p:nvPr/>
        </p:nvSpPr>
        <p:spPr>
          <a:xfrm>
            <a:off x="6376007" y="7460813"/>
            <a:ext cx="6113692" cy="2585323"/>
          </a:xfrm>
          <a:prstGeom prst="rect">
            <a:avLst/>
          </a:prstGeom>
          <a:noFill/>
          <a:ln>
            <a:solidFill>
              <a:schemeClr val="bg1"/>
            </a:solidFill>
          </a:ln>
        </p:spPr>
        <p:txBody>
          <a:bodyPr wrap="square" rtlCol="0">
            <a:spAutoFit/>
          </a:bodyPr>
          <a:lstStyle/>
          <a:p>
            <a:r>
              <a:rPr lang="en-US" sz="5400" dirty="0">
                <a:latin typeface="Berlin Sans FB" panose="020E0602020502020306" pitchFamily="34" charset="0"/>
              </a:rPr>
              <a:t>Presented By</a:t>
            </a:r>
          </a:p>
          <a:p>
            <a:r>
              <a:rPr lang="en-US" sz="5400" dirty="0">
                <a:latin typeface="Berlin Sans FB" panose="020E0602020502020306" pitchFamily="34" charset="0"/>
              </a:rPr>
              <a:t>	M. Banupriya</a:t>
            </a:r>
          </a:p>
          <a:p>
            <a:r>
              <a:rPr lang="en-US" sz="5400" dirty="0">
                <a:latin typeface="Berlin Sans FB" panose="020E0602020502020306" pitchFamily="34" charset="0"/>
              </a:rPr>
              <a:t>	M. Sankareswari</a:t>
            </a:r>
            <a:endParaRPr lang="en-IN" sz="5400" dirty="0">
              <a:latin typeface="Berlin Sans FB" panose="020E0602020502020306" pitchFamily="34" charset="0"/>
            </a:endParaRPr>
          </a:p>
        </p:txBody>
      </p:sp>
      <p:pic>
        <p:nvPicPr>
          <p:cNvPr id="2" name="Picture 2" descr="Agentic AI: Transforming How Machines Think and Act | Nagesh Singh Chauhan">
            <a:extLst>
              <a:ext uri="{FF2B5EF4-FFF2-40B4-BE49-F238E27FC236}">
                <a16:creationId xmlns:a16="http://schemas.microsoft.com/office/drawing/2014/main" id="{16FDBC2C-82C4-8686-A96D-DC7723A7A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11297" y="3720439"/>
            <a:ext cx="6673835" cy="656656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2" presetClass="entr" presetSubtype="4" fill="hold" nodeType="withEffect">
                                  <p:stCondLst>
                                    <p:cond delay="0"/>
                                  </p:stCondLst>
                                  <p:childTnLst>
                                    <p:set>
                                      <p:cBhvr>
                                        <p:cTn id="9" dur="1" fill="hold">
                                          <p:stCondLst>
                                            <p:cond delay="0"/>
                                          </p:stCondLst>
                                        </p:cTn>
                                        <p:tgtEl>
                                          <p:spTgt spid="1028"/>
                                        </p:tgtEl>
                                        <p:attrNameLst>
                                          <p:attrName>style.visibility</p:attrName>
                                        </p:attrNameLst>
                                      </p:cBhvr>
                                      <p:to>
                                        <p:strVal val="visible"/>
                                      </p:to>
                                    </p:set>
                                    <p:anim calcmode="lin" valueType="num">
                                      <p:cBhvr additive="base">
                                        <p:cTn id="10" dur="500" fill="hold"/>
                                        <p:tgtEl>
                                          <p:spTgt spid="1028"/>
                                        </p:tgtEl>
                                        <p:attrNameLst>
                                          <p:attrName>ppt_x</p:attrName>
                                        </p:attrNameLst>
                                      </p:cBhvr>
                                      <p:tavLst>
                                        <p:tav tm="0">
                                          <p:val>
                                            <p:strVal val="#ppt_x"/>
                                          </p:val>
                                        </p:tav>
                                        <p:tav tm="100000">
                                          <p:val>
                                            <p:strVal val="#ppt_x"/>
                                          </p:val>
                                        </p:tav>
                                      </p:tavLst>
                                    </p:anim>
                                    <p:anim calcmode="lin" valueType="num">
                                      <p:cBhvr additive="base">
                                        <p:cTn id="11"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4517814" y="-315404"/>
            <a:ext cx="3964281" cy="10917809"/>
            <a:chOff x="0" y="0"/>
            <a:chExt cx="1044090" cy="2875472"/>
          </a:xfrm>
        </p:grpSpPr>
        <p:sp>
          <p:nvSpPr>
            <p:cNvPr id="3" name="Freeform 3"/>
            <p:cNvSpPr/>
            <p:nvPr/>
          </p:nvSpPr>
          <p:spPr>
            <a:xfrm>
              <a:off x="0" y="0"/>
              <a:ext cx="1044090" cy="2875472"/>
            </a:xfrm>
            <a:custGeom>
              <a:avLst/>
              <a:gdLst/>
              <a:ahLst/>
              <a:cxnLst/>
              <a:rect l="l" t="t" r="r" b="b"/>
              <a:pathLst>
                <a:path w="1044090" h="2875472">
                  <a:moveTo>
                    <a:pt x="0" y="0"/>
                  </a:moveTo>
                  <a:lnTo>
                    <a:pt x="1044090" y="0"/>
                  </a:lnTo>
                  <a:lnTo>
                    <a:pt x="1044090" y="2875472"/>
                  </a:lnTo>
                  <a:lnTo>
                    <a:pt x="0" y="2875472"/>
                  </a:lnTo>
                  <a:close/>
                </a:path>
              </a:pathLst>
            </a:custGeom>
            <a:solidFill>
              <a:srgbClr val="145DA0"/>
            </a:solidFill>
            <a:ln cap="sq">
              <a:noFill/>
              <a:prstDash val="solid"/>
              <a:miter/>
            </a:ln>
          </p:spPr>
          <p:txBody>
            <a:bodyPr/>
            <a:lstStyle/>
            <a:p>
              <a:endParaRPr lang="en-IN" dirty="0"/>
            </a:p>
          </p:txBody>
        </p:sp>
        <p:sp>
          <p:nvSpPr>
            <p:cNvPr id="4" name="TextBox 4"/>
            <p:cNvSpPr txBox="1"/>
            <p:nvPr/>
          </p:nvSpPr>
          <p:spPr>
            <a:xfrm>
              <a:off x="0" y="-38100"/>
              <a:ext cx="1044090" cy="2913572"/>
            </a:xfrm>
            <a:prstGeom prst="rect">
              <a:avLst/>
            </a:prstGeom>
          </p:spPr>
          <p:txBody>
            <a:bodyPr lIns="50800" tIns="50800" rIns="50800" bIns="50800" rtlCol="0" anchor="ctr"/>
            <a:lstStyle/>
            <a:p>
              <a:pPr marL="0" lvl="0" indent="0" algn="ctr">
                <a:lnSpc>
                  <a:spcPts val="2659"/>
                </a:lnSpc>
                <a:spcBef>
                  <a:spcPct val="0"/>
                </a:spcBef>
              </a:pPr>
              <a:endParaRPr dirty="0"/>
            </a:p>
          </p:txBody>
        </p:sp>
      </p:grpSp>
      <p:sp>
        <p:nvSpPr>
          <p:cNvPr id="5" name="TextBox 5"/>
          <p:cNvSpPr txBox="1"/>
          <p:nvPr/>
        </p:nvSpPr>
        <p:spPr>
          <a:xfrm>
            <a:off x="2612354" y="1367193"/>
            <a:ext cx="6760246" cy="1308050"/>
          </a:xfrm>
          <a:prstGeom prst="rect">
            <a:avLst/>
          </a:prstGeom>
        </p:spPr>
        <p:txBody>
          <a:bodyPr lIns="0" tIns="0" rIns="0" bIns="0" rtlCol="0" anchor="t">
            <a:spAutoFit/>
          </a:bodyPr>
          <a:lstStyle/>
          <a:p>
            <a:pPr algn="l">
              <a:lnSpc>
                <a:spcPts val="10248"/>
              </a:lnSpc>
              <a:spcBef>
                <a:spcPct val="0"/>
              </a:spcBef>
            </a:pPr>
            <a:r>
              <a:rPr lang="en-US" sz="11500" dirty="0">
                <a:solidFill>
                  <a:schemeClr val="accent1"/>
                </a:solidFill>
                <a:latin typeface="Berlin Sans FB Demi" panose="020E0802020502020306" pitchFamily="34" charset="0"/>
                <a:sym typeface="Montserrat Bold"/>
              </a:rPr>
              <a:t>Overview</a:t>
            </a:r>
          </a:p>
        </p:txBody>
      </p:sp>
      <p:grpSp>
        <p:nvGrpSpPr>
          <p:cNvPr id="6" name="Group 6"/>
          <p:cNvGrpSpPr/>
          <p:nvPr/>
        </p:nvGrpSpPr>
        <p:grpSpPr>
          <a:xfrm>
            <a:off x="-1867766" y="-1614217"/>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txBody>
            <a:bodyPr/>
            <a:lstStyle/>
            <a:p>
              <a:endParaRPr lang="en-IN" dirty="0"/>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dirty="0"/>
            </a:p>
          </p:txBody>
        </p:sp>
      </p:grpSp>
      <p:sp>
        <p:nvSpPr>
          <p:cNvPr id="11" name="TextBox 11"/>
          <p:cNvSpPr txBox="1"/>
          <p:nvPr/>
        </p:nvSpPr>
        <p:spPr>
          <a:xfrm>
            <a:off x="3663160" y="3397227"/>
            <a:ext cx="5709440" cy="573042"/>
          </a:xfrm>
          <a:prstGeom prst="rect">
            <a:avLst/>
          </a:prstGeom>
        </p:spPr>
        <p:txBody>
          <a:bodyPr wrap="square" lIns="0" tIns="0" rIns="0" bIns="0" rtlCol="0" anchor="t">
            <a:spAutoFit/>
          </a:bodyPr>
          <a:lstStyle/>
          <a:p>
            <a:pPr algn="l">
              <a:lnSpc>
                <a:spcPts val="3995"/>
              </a:lnSpc>
              <a:spcBef>
                <a:spcPct val="0"/>
              </a:spcBef>
            </a:pPr>
            <a:r>
              <a:rPr lang="en-US" sz="6600" spc="-57" dirty="0">
                <a:solidFill>
                  <a:srgbClr val="051D40"/>
                </a:solidFill>
                <a:latin typeface="Berlin Sans FB" panose="020E0602020502020306" pitchFamily="34" charset="0"/>
                <a:ea typeface="Poppins"/>
                <a:cs typeface="Poppins"/>
                <a:sym typeface="Poppins"/>
              </a:rPr>
              <a:t>Introduction</a:t>
            </a:r>
          </a:p>
        </p:txBody>
      </p:sp>
      <p:sp>
        <p:nvSpPr>
          <p:cNvPr id="14" name="TextBox 14"/>
          <p:cNvSpPr txBox="1"/>
          <p:nvPr/>
        </p:nvSpPr>
        <p:spPr>
          <a:xfrm>
            <a:off x="3607679" y="4840108"/>
            <a:ext cx="4143021" cy="573042"/>
          </a:xfrm>
          <a:prstGeom prst="rect">
            <a:avLst/>
          </a:prstGeom>
        </p:spPr>
        <p:txBody>
          <a:bodyPr lIns="0" tIns="0" rIns="0" bIns="0" rtlCol="0" anchor="t">
            <a:spAutoFit/>
          </a:bodyPr>
          <a:lstStyle/>
          <a:p>
            <a:pPr algn="l">
              <a:lnSpc>
                <a:spcPts val="3995"/>
              </a:lnSpc>
              <a:spcBef>
                <a:spcPct val="0"/>
              </a:spcBef>
            </a:pPr>
            <a:r>
              <a:rPr lang="en-US" sz="6600" spc="-57" dirty="0">
                <a:solidFill>
                  <a:srgbClr val="051D40"/>
                </a:solidFill>
                <a:latin typeface="Berlin Sans FB" panose="020E0602020502020306" pitchFamily="34" charset="0"/>
                <a:cs typeface="Poppins"/>
                <a:sym typeface="Poppins"/>
              </a:rPr>
              <a:t>Types of AI</a:t>
            </a:r>
          </a:p>
        </p:txBody>
      </p:sp>
      <p:sp>
        <p:nvSpPr>
          <p:cNvPr id="17" name="TextBox 17"/>
          <p:cNvSpPr txBox="1"/>
          <p:nvPr/>
        </p:nvSpPr>
        <p:spPr>
          <a:xfrm>
            <a:off x="3629450" y="6413803"/>
            <a:ext cx="6563911" cy="573042"/>
          </a:xfrm>
          <a:prstGeom prst="rect">
            <a:avLst/>
          </a:prstGeom>
        </p:spPr>
        <p:txBody>
          <a:bodyPr wrap="square" lIns="0" tIns="0" rIns="0" bIns="0" rtlCol="0" anchor="t">
            <a:spAutoFit/>
          </a:bodyPr>
          <a:lstStyle/>
          <a:p>
            <a:pPr>
              <a:lnSpc>
                <a:spcPts val="3995"/>
              </a:lnSpc>
              <a:spcBef>
                <a:spcPct val="0"/>
              </a:spcBef>
            </a:pPr>
            <a:r>
              <a:rPr lang="en-US" sz="6600" spc="-57" dirty="0">
                <a:solidFill>
                  <a:srgbClr val="051D40"/>
                </a:solidFill>
                <a:latin typeface="Berlin Sans FB" panose="020E0602020502020306" pitchFamily="34" charset="0"/>
                <a:cs typeface="Poppins"/>
                <a:sym typeface="Poppins"/>
              </a:rPr>
              <a:t>Implementation</a:t>
            </a:r>
          </a:p>
        </p:txBody>
      </p:sp>
      <p:sp>
        <p:nvSpPr>
          <p:cNvPr id="20" name="TextBox 20"/>
          <p:cNvSpPr txBox="1"/>
          <p:nvPr/>
        </p:nvSpPr>
        <p:spPr>
          <a:xfrm>
            <a:off x="3607679" y="8048399"/>
            <a:ext cx="6563910" cy="573042"/>
          </a:xfrm>
          <a:prstGeom prst="rect">
            <a:avLst/>
          </a:prstGeom>
        </p:spPr>
        <p:txBody>
          <a:bodyPr wrap="square" lIns="0" tIns="0" rIns="0" bIns="0" rtlCol="0" anchor="t">
            <a:spAutoFit/>
          </a:bodyPr>
          <a:lstStyle/>
          <a:p>
            <a:pPr algn="l">
              <a:lnSpc>
                <a:spcPts val="3995"/>
              </a:lnSpc>
              <a:spcBef>
                <a:spcPct val="0"/>
              </a:spcBef>
            </a:pPr>
            <a:r>
              <a:rPr lang="en-US" sz="6600" spc="-57" dirty="0">
                <a:solidFill>
                  <a:srgbClr val="051D40"/>
                </a:solidFill>
                <a:latin typeface="Berlin Sans FB" panose="020E0602020502020306" pitchFamily="34" charset="0"/>
                <a:cs typeface="Poppins"/>
                <a:sym typeface="Poppins"/>
              </a:rPr>
              <a:t>How</a:t>
            </a:r>
            <a:r>
              <a:rPr lang="en-US" sz="2853" spc="-57" dirty="0">
                <a:solidFill>
                  <a:srgbClr val="051D40"/>
                </a:solidFill>
                <a:latin typeface="Poppins"/>
                <a:ea typeface="Poppins"/>
                <a:cs typeface="Poppins"/>
                <a:sym typeface="Poppins"/>
              </a:rPr>
              <a:t> </a:t>
            </a:r>
            <a:r>
              <a:rPr lang="en-US" sz="6600" spc="-57" dirty="0">
                <a:solidFill>
                  <a:srgbClr val="051D40"/>
                </a:solidFill>
                <a:latin typeface="Berlin Sans FB" panose="020E0602020502020306" pitchFamily="34" charset="0"/>
                <a:cs typeface="Poppins"/>
                <a:sym typeface="Poppins"/>
              </a:rPr>
              <a:t>Does it works?</a:t>
            </a:r>
          </a:p>
        </p:txBody>
      </p:sp>
      <p:sp>
        <p:nvSpPr>
          <p:cNvPr id="23" name="TextBox 23"/>
          <p:cNvSpPr txBox="1"/>
          <p:nvPr/>
        </p:nvSpPr>
        <p:spPr>
          <a:xfrm>
            <a:off x="3607679" y="9622094"/>
            <a:ext cx="4579735" cy="573042"/>
          </a:xfrm>
          <a:prstGeom prst="rect">
            <a:avLst/>
          </a:prstGeom>
        </p:spPr>
        <p:txBody>
          <a:bodyPr lIns="0" tIns="0" rIns="0" bIns="0" rtlCol="0" anchor="t">
            <a:spAutoFit/>
          </a:bodyPr>
          <a:lstStyle/>
          <a:p>
            <a:pPr algn="l">
              <a:lnSpc>
                <a:spcPts val="3995"/>
              </a:lnSpc>
              <a:spcBef>
                <a:spcPct val="0"/>
              </a:spcBef>
            </a:pPr>
            <a:r>
              <a:rPr lang="en-US" sz="6600" spc="-57" dirty="0">
                <a:solidFill>
                  <a:srgbClr val="051D40"/>
                </a:solidFill>
                <a:latin typeface="Berlin Sans FB" panose="020E0602020502020306" pitchFamily="34" charset="0"/>
                <a:cs typeface="Poppins"/>
                <a:sym typeface="Poppins"/>
              </a:rPr>
              <a:t>Conclusions</a:t>
            </a:r>
          </a:p>
        </p:txBody>
      </p:sp>
      <p:sp>
        <p:nvSpPr>
          <p:cNvPr id="34" name="Freeform 9">
            <a:extLst>
              <a:ext uri="{FF2B5EF4-FFF2-40B4-BE49-F238E27FC236}">
                <a16:creationId xmlns:a16="http://schemas.microsoft.com/office/drawing/2014/main" id="{0B2E2265-A956-0AE7-66DE-4AF28D825906}"/>
              </a:ext>
            </a:extLst>
          </p:cNvPr>
          <p:cNvSpPr/>
          <p:nvPr/>
        </p:nvSpPr>
        <p:spPr>
          <a:xfrm rot="5400000">
            <a:off x="2079786" y="7631741"/>
            <a:ext cx="1219199" cy="86963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3200" dirty="0"/>
          </a:p>
        </p:txBody>
      </p:sp>
      <p:sp>
        <p:nvSpPr>
          <p:cNvPr id="35" name="Freeform 9">
            <a:extLst>
              <a:ext uri="{FF2B5EF4-FFF2-40B4-BE49-F238E27FC236}">
                <a16:creationId xmlns:a16="http://schemas.microsoft.com/office/drawing/2014/main" id="{A14E788E-C5D9-7E2A-E085-F4099926A01D}"/>
              </a:ext>
            </a:extLst>
          </p:cNvPr>
          <p:cNvSpPr/>
          <p:nvPr/>
        </p:nvSpPr>
        <p:spPr>
          <a:xfrm rot="5400000">
            <a:off x="2079786" y="6111373"/>
            <a:ext cx="1219199" cy="86963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3200" dirty="0"/>
          </a:p>
        </p:txBody>
      </p:sp>
      <p:sp>
        <p:nvSpPr>
          <p:cNvPr id="36" name="Freeform 9">
            <a:extLst>
              <a:ext uri="{FF2B5EF4-FFF2-40B4-BE49-F238E27FC236}">
                <a16:creationId xmlns:a16="http://schemas.microsoft.com/office/drawing/2014/main" id="{EA19EC14-EAA4-1A44-3F8A-4D878AC3F00E}"/>
              </a:ext>
            </a:extLst>
          </p:cNvPr>
          <p:cNvSpPr/>
          <p:nvPr/>
        </p:nvSpPr>
        <p:spPr>
          <a:xfrm rot="5400000">
            <a:off x="2079786" y="4579195"/>
            <a:ext cx="1219199" cy="86963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3200" dirty="0"/>
          </a:p>
        </p:txBody>
      </p:sp>
      <p:sp>
        <p:nvSpPr>
          <p:cNvPr id="37" name="Freeform 9">
            <a:extLst>
              <a:ext uri="{FF2B5EF4-FFF2-40B4-BE49-F238E27FC236}">
                <a16:creationId xmlns:a16="http://schemas.microsoft.com/office/drawing/2014/main" id="{A3856AD6-20D2-0C0A-6400-3718914EBE18}"/>
              </a:ext>
            </a:extLst>
          </p:cNvPr>
          <p:cNvSpPr/>
          <p:nvPr/>
        </p:nvSpPr>
        <p:spPr>
          <a:xfrm rot="5400000">
            <a:off x="2081955" y="3122506"/>
            <a:ext cx="1219199" cy="86963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3200" dirty="0"/>
          </a:p>
        </p:txBody>
      </p:sp>
      <p:sp>
        <p:nvSpPr>
          <p:cNvPr id="38" name="Freeform 9">
            <a:extLst>
              <a:ext uri="{FF2B5EF4-FFF2-40B4-BE49-F238E27FC236}">
                <a16:creationId xmlns:a16="http://schemas.microsoft.com/office/drawing/2014/main" id="{AF4FB0CF-E1F4-4808-894A-C2053482E051}"/>
              </a:ext>
            </a:extLst>
          </p:cNvPr>
          <p:cNvSpPr/>
          <p:nvPr/>
        </p:nvSpPr>
        <p:spPr>
          <a:xfrm rot="5400000">
            <a:off x="2185509" y="9187278"/>
            <a:ext cx="1219199" cy="86963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3200" dirty="0"/>
          </a:p>
        </p:txBody>
      </p:sp>
      <p:pic>
        <p:nvPicPr>
          <p:cNvPr id="1026" name="Picture 2" descr="Story pin image">
            <a:extLst>
              <a:ext uri="{FF2B5EF4-FFF2-40B4-BE49-F238E27FC236}">
                <a16:creationId xmlns:a16="http://schemas.microsoft.com/office/drawing/2014/main" id="{763D1624-783A-1D3B-B0C2-A22C457A97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6888" y="861110"/>
            <a:ext cx="8130406" cy="91591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346523" y="-2333570"/>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145DA0"/>
              </a:solidFill>
              <a:prstDash val="solid"/>
              <a:miter/>
            </a:ln>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IN"/>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116375" y="1013967"/>
            <a:ext cx="8454557" cy="928524"/>
          </a:xfrm>
          <a:prstGeom prst="rect">
            <a:avLst/>
          </a:prstGeom>
        </p:spPr>
        <p:txBody>
          <a:bodyPr wrap="square" lIns="0" tIns="0" rIns="0" bIns="0" rtlCol="0" anchor="t">
            <a:spAutoFit/>
          </a:bodyPr>
          <a:lstStyle/>
          <a:p>
            <a:pPr algn="l">
              <a:lnSpc>
                <a:spcPts val="6300"/>
              </a:lnSpc>
              <a:spcBef>
                <a:spcPct val="0"/>
              </a:spcBef>
            </a:pPr>
            <a:r>
              <a:rPr lang="en-US" sz="11500" dirty="0">
                <a:solidFill>
                  <a:schemeClr val="accent1"/>
                </a:solidFill>
                <a:latin typeface="Berlin Sans FB Demi" panose="020E0802020502020306" pitchFamily="34" charset="0"/>
                <a:sym typeface="Montserrat"/>
              </a:rPr>
              <a:t>Introduction</a:t>
            </a:r>
          </a:p>
        </p:txBody>
      </p:sp>
      <p:sp>
        <p:nvSpPr>
          <p:cNvPr id="15" name="Oval 14">
            <a:extLst>
              <a:ext uri="{FF2B5EF4-FFF2-40B4-BE49-F238E27FC236}">
                <a16:creationId xmlns:a16="http://schemas.microsoft.com/office/drawing/2014/main" id="{A6B9C972-65D6-702D-DD40-DBDB924D0ED9}"/>
              </a:ext>
            </a:extLst>
          </p:cNvPr>
          <p:cNvSpPr/>
          <p:nvPr/>
        </p:nvSpPr>
        <p:spPr>
          <a:xfrm>
            <a:off x="10628574" y="1714500"/>
            <a:ext cx="6176848" cy="592169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2" descr="This may contain: a person holding a cell phone with a robot on it">
            <a:extLst>
              <a:ext uri="{FF2B5EF4-FFF2-40B4-BE49-F238E27FC236}">
                <a16:creationId xmlns:a16="http://schemas.microsoft.com/office/drawing/2014/main" id="{07B05F2A-7257-C031-F771-CB57B4071D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55162" y="1551149"/>
            <a:ext cx="6537437" cy="624840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9019095E-437E-B850-1B33-0F12116B1339}"/>
              </a:ext>
            </a:extLst>
          </p:cNvPr>
          <p:cNvSpPr txBox="1"/>
          <p:nvPr/>
        </p:nvSpPr>
        <p:spPr>
          <a:xfrm>
            <a:off x="527745" y="2923060"/>
            <a:ext cx="9445157" cy="6955750"/>
          </a:xfrm>
          <a:prstGeom prst="rect">
            <a:avLst/>
          </a:prstGeom>
          <a:noFill/>
        </p:spPr>
        <p:txBody>
          <a:bodyPr wrap="square" rtlCol="0">
            <a:spAutoFit/>
          </a:bodyPr>
          <a:lstStyle/>
          <a:p>
            <a:pPr algn="just"/>
            <a:r>
              <a:rPr lang="en-US" sz="5400" spc="-57" dirty="0">
                <a:solidFill>
                  <a:srgbClr val="051D40"/>
                </a:solidFill>
                <a:latin typeface="Berlin Sans FB" panose="020E0602020502020306" pitchFamily="34" charset="0"/>
                <a:cs typeface="Poppins"/>
              </a:rPr>
              <a:t>An</a:t>
            </a:r>
            <a:r>
              <a:rPr lang="en-US" sz="5400" b="1" spc="-255" dirty="0">
                <a:solidFill>
                  <a:srgbClr val="FF0000"/>
                </a:solidFill>
                <a:latin typeface="Poppins Bold"/>
                <a:cs typeface="Poppins Bold"/>
              </a:rPr>
              <a:t> </a:t>
            </a:r>
            <a:r>
              <a:rPr lang="en-US" sz="5400" spc="-57" dirty="0">
                <a:solidFill>
                  <a:srgbClr val="051D40"/>
                </a:solidFill>
                <a:latin typeface="Berlin Sans FB" panose="020E0602020502020306" pitchFamily="34" charset="0"/>
                <a:cs typeface="Poppins"/>
              </a:rPr>
              <a:t>AI agent is a system that can sense its environment, make intelligent decisions, and take actions to achieve a specific goal. Unlike regular software that follows fixed instructions, an AI agent can learn from data and improve its decisions over time.</a:t>
            </a:r>
            <a:endParaRPr lang="en-IN" sz="5400" spc="-57" dirty="0">
              <a:solidFill>
                <a:srgbClr val="051D40"/>
              </a:solidFill>
              <a:latin typeface="Berlin Sans FB" panose="020E0602020502020306" pitchFamily="34" charset="0"/>
              <a:cs typeface="Poppins"/>
            </a:endParaRPr>
          </a:p>
          <a:p>
            <a:pPr algn="just"/>
            <a:r>
              <a:rPr lang="en-US" sz="1400" spc="-57" dirty="0">
                <a:solidFill>
                  <a:srgbClr val="051D40"/>
                </a:solidFill>
                <a:latin typeface="Berlin Sans FB" panose="020E0602020502020306" pitchFamily="34" charset="0"/>
                <a:cs typeface="Poppins"/>
              </a:rPr>
              <a:t> </a:t>
            </a:r>
            <a:endParaRPr lang="en-IN" sz="1400" dirty="0">
              <a:solidFill>
                <a:srgbClr val="FF0000"/>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sp>
        <p:nvSpPr>
          <p:cNvPr id="2" name="Freeform 2"/>
          <p:cNvSpPr/>
          <p:nvPr/>
        </p:nvSpPr>
        <p:spPr>
          <a:xfrm>
            <a:off x="232204"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IN"/>
          </a:p>
        </p:txBody>
      </p:sp>
      <p:sp>
        <p:nvSpPr>
          <p:cNvPr id="3" name="Freeform 3"/>
          <p:cNvSpPr/>
          <p:nvPr/>
        </p:nvSpPr>
        <p:spPr>
          <a:xfrm>
            <a:off x="6224860"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IN"/>
          </a:p>
        </p:txBody>
      </p:sp>
      <p:sp>
        <p:nvSpPr>
          <p:cNvPr id="4" name="Freeform 4"/>
          <p:cNvSpPr/>
          <p:nvPr/>
        </p:nvSpPr>
        <p:spPr>
          <a:xfrm>
            <a:off x="12213997"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IN"/>
          </a:p>
        </p:txBody>
      </p:sp>
      <p:grpSp>
        <p:nvGrpSpPr>
          <p:cNvPr id="5" name="Group 5"/>
          <p:cNvGrpSpPr/>
          <p:nvPr/>
        </p:nvGrpSpPr>
        <p:grpSpPr>
          <a:xfrm>
            <a:off x="12213997" y="3298645"/>
            <a:ext cx="5841799" cy="5146658"/>
            <a:chOff x="0" y="0"/>
            <a:chExt cx="1554321" cy="1369365"/>
          </a:xfrm>
        </p:grpSpPr>
        <p:sp>
          <p:nvSpPr>
            <p:cNvPr id="6" name="Freeform 6"/>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7" name="TextBox 7"/>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8" name="Group 8"/>
          <p:cNvGrpSpPr/>
          <p:nvPr/>
        </p:nvGrpSpPr>
        <p:grpSpPr>
          <a:xfrm>
            <a:off x="6224860" y="3298645"/>
            <a:ext cx="5841799" cy="5146658"/>
            <a:chOff x="0" y="0"/>
            <a:chExt cx="1554321" cy="1369365"/>
          </a:xfrm>
        </p:grpSpPr>
        <p:sp>
          <p:nvSpPr>
            <p:cNvPr id="9" name="Freeform 9"/>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10" name="TextBox 10"/>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1" name="Group 11"/>
          <p:cNvGrpSpPr/>
          <p:nvPr/>
        </p:nvGrpSpPr>
        <p:grpSpPr>
          <a:xfrm>
            <a:off x="232204" y="3298645"/>
            <a:ext cx="5841799" cy="5146658"/>
            <a:chOff x="0" y="0"/>
            <a:chExt cx="1554321" cy="1369365"/>
          </a:xfrm>
        </p:grpSpPr>
        <p:sp>
          <p:nvSpPr>
            <p:cNvPr id="12" name="Freeform 12"/>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13" name="TextBox 13"/>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4" name="Group 14"/>
          <p:cNvGrpSpPr/>
          <p:nvPr/>
        </p:nvGrpSpPr>
        <p:grpSpPr>
          <a:xfrm>
            <a:off x="-2123887" y="-2346523"/>
            <a:ext cx="4693046" cy="469304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txBody>
            <a:bodyPr/>
            <a:lstStyle/>
            <a:p>
              <a:endParaRPr lang="en-IN"/>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5573718" y="7940477"/>
            <a:ext cx="4693046" cy="469304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txBody>
            <a:bodyPr/>
            <a:lstStyle/>
            <a:p>
              <a:endParaRPr lang="en-IN"/>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2600014" y="1502595"/>
            <a:ext cx="13444532" cy="1015086"/>
          </a:xfrm>
          <a:prstGeom prst="rect">
            <a:avLst/>
          </a:prstGeom>
        </p:spPr>
        <p:txBody>
          <a:bodyPr wrap="square" lIns="0" tIns="0" rIns="0" bIns="0" rtlCol="0" anchor="t">
            <a:spAutoFit/>
          </a:bodyPr>
          <a:lstStyle/>
          <a:p>
            <a:pPr marL="0" lvl="0" indent="0" algn="ctr">
              <a:lnSpc>
                <a:spcPts val="7151"/>
              </a:lnSpc>
              <a:spcBef>
                <a:spcPct val="0"/>
              </a:spcBef>
            </a:pPr>
            <a:r>
              <a:rPr lang="en-US" sz="11500" dirty="0">
                <a:solidFill>
                  <a:schemeClr val="bg1"/>
                </a:solidFill>
                <a:latin typeface="Berlin Sans FB Demi" panose="020E0802020502020306" pitchFamily="34" charset="0"/>
                <a:sym typeface="Montserrat Bold"/>
              </a:rPr>
              <a:t>Types of AI Agent</a:t>
            </a:r>
          </a:p>
        </p:txBody>
      </p:sp>
      <p:sp>
        <p:nvSpPr>
          <p:cNvPr id="29" name="TextBox 29"/>
          <p:cNvSpPr txBox="1"/>
          <p:nvPr/>
        </p:nvSpPr>
        <p:spPr>
          <a:xfrm>
            <a:off x="9438" y="7260690"/>
            <a:ext cx="6139993"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Simple Reflex Agent</a:t>
            </a:r>
          </a:p>
        </p:txBody>
      </p:sp>
      <p:sp>
        <p:nvSpPr>
          <p:cNvPr id="30" name="TextBox 30"/>
          <p:cNvSpPr txBox="1"/>
          <p:nvPr/>
        </p:nvSpPr>
        <p:spPr>
          <a:xfrm>
            <a:off x="6430564" y="7260689"/>
            <a:ext cx="5783433"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Model Based Agent</a:t>
            </a:r>
          </a:p>
        </p:txBody>
      </p:sp>
      <p:sp>
        <p:nvSpPr>
          <p:cNvPr id="31" name="TextBox 31"/>
          <p:cNvSpPr txBox="1"/>
          <p:nvPr/>
        </p:nvSpPr>
        <p:spPr>
          <a:xfrm>
            <a:off x="12419701" y="7234453"/>
            <a:ext cx="5570064"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Goal Based Agent</a:t>
            </a:r>
          </a:p>
        </p:txBody>
      </p:sp>
      <p:pic>
        <p:nvPicPr>
          <p:cNvPr id="3074" name="Picture 2" descr="This may contain: a futuristic head with sound waves and lines in the shape of a person's face">
            <a:extLst>
              <a:ext uri="{FF2B5EF4-FFF2-40B4-BE49-F238E27FC236}">
                <a16:creationId xmlns:a16="http://schemas.microsoft.com/office/drawing/2014/main" id="{3DE89852-D8F1-3D35-EC5A-FEAC6A0804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668" y="3446286"/>
            <a:ext cx="5339532" cy="33550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3076" name="Picture 4" descr="This may contain: a robot that is looking at something on the wall with it's hands in front of it">
            <a:extLst>
              <a:ext uri="{FF2B5EF4-FFF2-40B4-BE49-F238E27FC236}">
                <a16:creationId xmlns:a16="http://schemas.microsoft.com/office/drawing/2014/main" id="{E81436DA-8044-D39C-E133-990001EDA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5100" y="3559095"/>
            <a:ext cx="5257800" cy="330681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1026" name="Picture 2" descr="This may contain: a woman sitting at a table using a tablet">
            <a:extLst>
              <a:ext uri="{FF2B5EF4-FFF2-40B4-BE49-F238E27FC236}">
                <a16:creationId xmlns:a16="http://schemas.microsoft.com/office/drawing/2014/main" id="{0CCDB45D-C220-E5AB-DD25-869CD7D796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19701" y="3559094"/>
            <a:ext cx="5416631" cy="34312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C6D56-1393-65C8-C8D6-2B7945B98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89D037-E4EB-8A2C-CE7E-FD1888833828}"/>
              </a:ext>
            </a:extLst>
          </p:cNvPr>
          <p:cNvSpPr/>
          <p:nvPr/>
        </p:nvSpPr>
        <p:spPr>
          <a:xfrm>
            <a:off x="232204"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IN"/>
          </a:p>
        </p:txBody>
      </p:sp>
      <p:sp>
        <p:nvSpPr>
          <p:cNvPr id="3" name="Freeform 3">
            <a:extLst>
              <a:ext uri="{FF2B5EF4-FFF2-40B4-BE49-F238E27FC236}">
                <a16:creationId xmlns:a16="http://schemas.microsoft.com/office/drawing/2014/main" id="{0413A790-C823-F8EF-9256-3E231101CAC3}"/>
              </a:ext>
            </a:extLst>
          </p:cNvPr>
          <p:cNvSpPr/>
          <p:nvPr/>
        </p:nvSpPr>
        <p:spPr>
          <a:xfrm>
            <a:off x="6224860"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IN"/>
          </a:p>
        </p:txBody>
      </p:sp>
      <p:sp>
        <p:nvSpPr>
          <p:cNvPr id="4" name="Freeform 4">
            <a:extLst>
              <a:ext uri="{FF2B5EF4-FFF2-40B4-BE49-F238E27FC236}">
                <a16:creationId xmlns:a16="http://schemas.microsoft.com/office/drawing/2014/main" id="{0DE9C6D1-D38E-FEF4-2C1C-FFA818A3C316}"/>
              </a:ext>
            </a:extLst>
          </p:cNvPr>
          <p:cNvSpPr/>
          <p:nvPr/>
        </p:nvSpPr>
        <p:spPr>
          <a:xfrm>
            <a:off x="12213997" y="7686324"/>
            <a:ext cx="5841799" cy="1153755"/>
          </a:xfrm>
          <a:custGeom>
            <a:avLst/>
            <a:gdLst/>
            <a:ahLst/>
            <a:cxnLst/>
            <a:rect l="l" t="t" r="r" b="b"/>
            <a:pathLst>
              <a:path w="5841799" h="1153755">
                <a:moveTo>
                  <a:pt x="0" y="0"/>
                </a:moveTo>
                <a:lnTo>
                  <a:pt x="5841799" y="0"/>
                </a:lnTo>
                <a:lnTo>
                  <a:pt x="5841799" y="1153755"/>
                </a:lnTo>
                <a:lnTo>
                  <a:pt x="0" y="1153755"/>
                </a:lnTo>
                <a:lnTo>
                  <a:pt x="0" y="0"/>
                </a:lnTo>
                <a:close/>
              </a:path>
            </a:pathLst>
          </a:custGeom>
          <a:blipFill>
            <a:blip r:embed="rId2"/>
            <a:stretch>
              <a:fillRect/>
            </a:stretch>
          </a:blipFill>
        </p:spPr>
        <p:txBody>
          <a:bodyPr/>
          <a:lstStyle/>
          <a:p>
            <a:endParaRPr lang="en-IN"/>
          </a:p>
        </p:txBody>
      </p:sp>
      <p:grpSp>
        <p:nvGrpSpPr>
          <p:cNvPr id="5" name="Group 5">
            <a:extLst>
              <a:ext uri="{FF2B5EF4-FFF2-40B4-BE49-F238E27FC236}">
                <a16:creationId xmlns:a16="http://schemas.microsoft.com/office/drawing/2014/main" id="{DFF2E535-3C27-3AC4-FFA4-12FF8E65C945}"/>
              </a:ext>
            </a:extLst>
          </p:cNvPr>
          <p:cNvGrpSpPr/>
          <p:nvPr/>
        </p:nvGrpSpPr>
        <p:grpSpPr>
          <a:xfrm>
            <a:off x="12213997" y="3298645"/>
            <a:ext cx="5841799" cy="5146658"/>
            <a:chOff x="0" y="0"/>
            <a:chExt cx="1554321" cy="1369365"/>
          </a:xfrm>
        </p:grpSpPr>
        <p:sp>
          <p:nvSpPr>
            <p:cNvPr id="6" name="Freeform 6">
              <a:extLst>
                <a:ext uri="{FF2B5EF4-FFF2-40B4-BE49-F238E27FC236}">
                  <a16:creationId xmlns:a16="http://schemas.microsoft.com/office/drawing/2014/main" id="{D9B6A61A-DEAF-7830-4CC3-10E674F2C47D}"/>
                </a:ext>
              </a:extLst>
            </p:cNvPr>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7" name="TextBox 7">
              <a:extLst>
                <a:ext uri="{FF2B5EF4-FFF2-40B4-BE49-F238E27FC236}">
                  <a16:creationId xmlns:a16="http://schemas.microsoft.com/office/drawing/2014/main" id="{286B4A2D-023E-C8D7-1448-FD7B8BF6455C}"/>
                </a:ext>
              </a:extLst>
            </p:cNvPr>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8" name="Group 8">
            <a:extLst>
              <a:ext uri="{FF2B5EF4-FFF2-40B4-BE49-F238E27FC236}">
                <a16:creationId xmlns:a16="http://schemas.microsoft.com/office/drawing/2014/main" id="{77B8D326-DD2D-E8AE-D273-913325B5D7D5}"/>
              </a:ext>
            </a:extLst>
          </p:cNvPr>
          <p:cNvGrpSpPr/>
          <p:nvPr/>
        </p:nvGrpSpPr>
        <p:grpSpPr>
          <a:xfrm>
            <a:off x="6224860" y="3298645"/>
            <a:ext cx="5841799" cy="5146658"/>
            <a:chOff x="0" y="0"/>
            <a:chExt cx="1554321" cy="1369365"/>
          </a:xfrm>
        </p:grpSpPr>
        <p:sp>
          <p:nvSpPr>
            <p:cNvPr id="9" name="Freeform 9">
              <a:extLst>
                <a:ext uri="{FF2B5EF4-FFF2-40B4-BE49-F238E27FC236}">
                  <a16:creationId xmlns:a16="http://schemas.microsoft.com/office/drawing/2014/main" id="{427B9E93-878F-5A37-700D-D6395D450A4A}"/>
                </a:ext>
              </a:extLst>
            </p:cNvPr>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10" name="TextBox 10">
              <a:extLst>
                <a:ext uri="{FF2B5EF4-FFF2-40B4-BE49-F238E27FC236}">
                  <a16:creationId xmlns:a16="http://schemas.microsoft.com/office/drawing/2014/main" id="{37D9CACE-D98A-6EC8-048B-7EF93DF13B40}"/>
                </a:ext>
              </a:extLst>
            </p:cNvPr>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1" name="Group 11">
            <a:extLst>
              <a:ext uri="{FF2B5EF4-FFF2-40B4-BE49-F238E27FC236}">
                <a16:creationId xmlns:a16="http://schemas.microsoft.com/office/drawing/2014/main" id="{85F40193-CE42-8BEA-C707-CA378577B251}"/>
              </a:ext>
            </a:extLst>
          </p:cNvPr>
          <p:cNvGrpSpPr/>
          <p:nvPr/>
        </p:nvGrpSpPr>
        <p:grpSpPr>
          <a:xfrm>
            <a:off x="232204" y="3298645"/>
            <a:ext cx="5841799" cy="5146658"/>
            <a:chOff x="0" y="0"/>
            <a:chExt cx="1554321" cy="1369365"/>
          </a:xfrm>
        </p:grpSpPr>
        <p:sp>
          <p:nvSpPr>
            <p:cNvPr id="12" name="Freeform 12">
              <a:extLst>
                <a:ext uri="{FF2B5EF4-FFF2-40B4-BE49-F238E27FC236}">
                  <a16:creationId xmlns:a16="http://schemas.microsoft.com/office/drawing/2014/main" id="{C037D742-CAA3-C028-D8B9-E5DA566ADDBD}"/>
                </a:ext>
              </a:extLst>
            </p:cNvPr>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13" name="TextBox 13">
              <a:extLst>
                <a:ext uri="{FF2B5EF4-FFF2-40B4-BE49-F238E27FC236}">
                  <a16:creationId xmlns:a16="http://schemas.microsoft.com/office/drawing/2014/main" id="{3C2BBECB-B7DE-4187-9443-6C5609CA3383}"/>
                </a:ext>
              </a:extLst>
            </p:cNvPr>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14" name="Group 14">
            <a:extLst>
              <a:ext uri="{FF2B5EF4-FFF2-40B4-BE49-F238E27FC236}">
                <a16:creationId xmlns:a16="http://schemas.microsoft.com/office/drawing/2014/main" id="{A3AD8404-CCE6-0B56-BB66-19EE6B9B28C6}"/>
              </a:ext>
            </a:extLst>
          </p:cNvPr>
          <p:cNvGrpSpPr/>
          <p:nvPr/>
        </p:nvGrpSpPr>
        <p:grpSpPr>
          <a:xfrm>
            <a:off x="-2123887" y="-2346523"/>
            <a:ext cx="4693046" cy="4693046"/>
            <a:chOff x="0" y="0"/>
            <a:chExt cx="812800" cy="812800"/>
          </a:xfrm>
        </p:grpSpPr>
        <p:sp>
          <p:nvSpPr>
            <p:cNvPr id="15" name="Freeform 15">
              <a:extLst>
                <a:ext uri="{FF2B5EF4-FFF2-40B4-BE49-F238E27FC236}">
                  <a16:creationId xmlns:a16="http://schemas.microsoft.com/office/drawing/2014/main" id="{B9921167-5AA7-FBC0-9B83-8E68C23B48F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txBody>
            <a:bodyPr/>
            <a:lstStyle/>
            <a:p>
              <a:endParaRPr lang="en-IN"/>
            </a:p>
          </p:txBody>
        </p:sp>
        <p:sp>
          <p:nvSpPr>
            <p:cNvPr id="16" name="TextBox 16">
              <a:extLst>
                <a:ext uri="{FF2B5EF4-FFF2-40B4-BE49-F238E27FC236}">
                  <a16:creationId xmlns:a16="http://schemas.microsoft.com/office/drawing/2014/main" id="{97A171FD-36B3-39BE-103A-8714356A8E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B382EB63-BFC9-7B40-840C-01936A41C986}"/>
              </a:ext>
            </a:extLst>
          </p:cNvPr>
          <p:cNvGrpSpPr/>
          <p:nvPr/>
        </p:nvGrpSpPr>
        <p:grpSpPr>
          <a:xfrm>
            <a:off x="15573718" y="7940477"/>
            <a:ext cx="4693046" cy="4693046"/>
            <a:chOff x="0" y="0"/>
            <a:chExt cx="812800" cy="812800"/>
          </a:xfrm>
        </p:grpSpPr>
        <p:sp>
          <p:nvSpPr>
            <p:cNvPr id="18" name="Freeform 18">
              <a:extLst>
                <a:ext uri="{FF2B5EF4-FFF2-40B4-BE49-F238E27FC236}">
                  <a16:creationId xmlns:a16="http://schemas.microsoft.com/office/drawing/2014/main" id="{42589B21-F85E-CC13-F946-ED5C982792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txBody>
            <a:bodyPr/>
            <a:lstStyle/>
            <a:p>
              <a:endParaRPr lang="en-IN"/>
            </a:p>
          </p:txBody>
        </p:sp>
        <p:sp>
          <p:nvSpPr>
            <p:cNvPr id="19" name="TextBox 19">
              <a:extLst>
                <a:ext uri="{FF2B5EF4-FFF2-40B4-BE49-F238E27FC236}">
                  <a16:creationId xmlns:a16="http://schemas.microsoft.com/office/drawing/2014/main" id="{4BA316AA-0A30-4BAF-BFA6-226E23F9C7D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E12C562C-A61A-06F4-59AB-D941D4F72960}"/>
              </a:ext>
            </a:extLst>
          </p:cNvPr>
          <p:cNvSpPr txBox="1"/>
          <p:nvPr/>
        </p:nvSpPr>
        <p:spPr>
          <a:xfrm>
            <a:off x="5417025" y="1895726"/>
            <a:ext cx="7453950" cy="870376"/>
          </a:xfrm>
          <a:prstGeom prst="rect">
            <a:avLst/>
          </a:prstGeom>
        </p:spPr>
        <p:txBody>
          <a:bodyPr lIns="0" tIns="0" rIns="0" bIns="0" rtlCol="0" anchor="t">
            <a:spAutoFit/>
          </a:bodyPr>
          <a:lstStyle/>
          <a:p>
            <a:pPr marL="0" lvl="0" indent="0" algn="ctr">
              <a:lnSpc>
                <a:spcPts val="7151"/>
              </a:lnSpc>
              <a:spcBef>
                <a:spcPct val="0"/>
              </a:spcBef>
            </a:pPr>
            <a:r>
              <a:rPr lang="en-US" sz="5108" b="1" dirty="0">
                <a:solidFill>
                  <a:srgbClr val="FDFDFD"/>
                </a:solidFill>
                <a:latin typeface="Montserrat Bold"/>
                <a:ea typeface="Montserrat Bold"/>
                <a:cs typeface="Montserrat Bold"/>
                <a:sym typeface="Montserrat Bold"/>
              </a:rPr>
              <a:t>Types of AI Agent</a:t>
            </a:r>
          </a:p>
        </p:txBody>
      </p:sp>
      <p:sp>
        <p:nvSpPr>
          <p:cNvPr id="29" name="TextBox 29">
            <a:extLst>
              <a:ext uri="{FF2B5EF4-FFF2-40B4-BE49-F238E27FC236}">
                <a16:creationId xmlns:a16="http://schemas.microsoft.com/office/drawing/2014/main" id="{BBDFE7BC-1121-DFB7-C066-74860E2F5A15}"/>
              </a:ext>
            </a:extLst>
          </p:cNvPr>
          <p:cNvSpPr txBox="1"/>
          <p:nvPr/>
        </p:nvSpPr>
        <p:spPr>
          <a:xfrm>
            <a:off x="9438" y="7260690"/>
            <a:ext cx="6139993"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Simple Reflex Agent</a:t>
            </a:r>
          </a:p>
        </p:txBody>
      </p:sp>
      <p:sp>
        <p:nvSpPr>
          <p:cNvPr id="30" name="TextBox 30">
            <a:extLst>
              <a:ext uri="{FF2B5EF4-FFF2-40B4-BE49-F238E27FC236}">
                <a16:creationId xmlns:a16="http://schemas.microsoft.com/office/drawing/2014/main" id="{BB54AC19-0E63-D774-7730-76907606C6C5}"/>
              </a:ext>
            </a:extLst>
          </p:cNvPr>
          <p:cNvSpPr txBox="1"/>
          <p:nvPr/>
        </p:nvSpPr>
        <p:spPr>
          <a:xfrm>
            <a:off x="6430564" y="7260689"/>
            <a:ext cx="5783433"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Model Based Agent</a:t>
            </a:r>
          </a:p>
        </p:txBody>
      </p:sp>
      <p:sp>
        <p:nvSpPr>
          <p:cNvPr id="31" name="TextBox 31">
            <a:extLst>
              <a:ext uri="{FF2B5EF4-FFF2-40B4-BE49-F238E27FC236}">
                <a16:creationId xmlns:a16="http://schemas.microsoft.com/office/drawing/2014/main" id="{873E8213-22AB-4238-8B8D-45D2BAA885F6}"/>
              </a:ext>
            </a:extLst>
          </p:cNvPr>
          <p:cNvSpPr txBox="1"/>
          <p:nvPr/>
        </p:nvSpPr>
        <p:spPr>
          <a:xfrm>
            <a:off x="12419701" y="7234453"/>
            <a:ext cx="5570064"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Goal Based Agent</a:t>
            </a:r>
          </a:p>
        </p:txBody>
      </p:sp>
      <p:pic>
        <p:nvPicPr>
          <p:cNvPr id="3074" name="Picture 2" descr="This may contain: a futuristic head with sound waves and lines in the shape of a person's face">
            <a:extLst>
              <a:ext uri="{FF2B5EF4-FFF2-40B4-BE49-F238E27FC236}">
                <a16:creationId xmlns:a16="http://schemas.microsoft.com/office/drawing/2014/main" id="{C5103AA6-0602-31B6-7A00-0605CA896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668" y="3446286"/>
            <a:ext cx="5339532" cy="335503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3076" name="Picture 4" descr="This may contain: a robot that is looking at something on the wall with it's hands in front of it">
            <a:extLst>
              <a:ext uri="{FF2B5EF4-FFF2-40B4-BE49-F238E27FC236}">
                <a16:creationId xmlns:a16="http://schemas.microsoft.com/office/drawing/2014/main" id="{3B95E8D0-881B-9A96-67B0-9C5AF92853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5100" y="3559095"/>
            <a:ext cx="5257800" cy="330681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1026" name="Picture 2" descr="This may contain: a woman sitting at a table using a tablet">
            <a:extLst>
              <a:ext uri="{FF2B5EF4-FFF2-40B4-BE49-F238E27FC236}">
                <a16:creationId xmlns:a16="http://schemas.microsoft.com/office/drawing/2014/main" id="{B8CB4A31-4DB7-CD3A-B3CD-0C698210A3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19701" y="3559094"/>
            <a:ext cx="5416631" cy="34312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F6DE4832-C024-CFE9-96B7-BCE53FCF2286}"/>
              </a:ext>
            </a:extLst>
          </p:cNvPr>
          <p:cNvSpPr/>
          <p:nvPr/>
        </p:nvSpPr>
        <p:spPr>
          <a:xfrm>
            <a:off x="9438" y="0"/>
            <a:ext cx="18278562" cy="10287000"/>
          </a:xfrm>
          <a:prstGeom prst="rect">
            <a:avLst/>
          </a:prstGeom>
          <a:solidFill>
            <a:srgbClr val="145DA0"/>
          </a:solidFill>
          <a:ln>
            <a:solidFill>
              <a:srgbClr val="145D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14">
            <a:extLst>
              <a:ext uri="{FF2B5EF4-FFF2-40B4-BE49-F238E27FC236}">
                <a16:creationId xmlns:a16="http://schemas.microsoft.com/office/drawing/2014/main" id="{E4CE26D0-9621-E884-5577-18B9FACC2866}"/>
              </a:ext>
            </a:extLst>
          </p:cNvPr>
          <p:cNvGrpSpPr/>
          <p:nvPr/>
        </p:nvGrpSpPr>
        <p:grpSpPr>
          <a:xfrm>
            <a:off x="-1971487" y="-2194123"/>
            <a:ext cx="4693046" cy="4693046"/>
            <a:chOff x="0" y="0"/>
            <a:chExt cx="812800" cy="812800"/>
          </a:xfrm>
        </p:grpSpPr>
        <p:sp>
          <p:nvSpPr>
            <p:cNvPr id="22" name="Freeform 15">
              <a:extLst>
                <a:ext uri="{FF2B5EF4-FFF2-40B4-BE49-F238E27FC236}">
                  <a16:creationId xmlns:a16="http://schemas.microsoft.com/office/drawing/2014/main" id="{D30C5B1B-A09C-4199-A7D2-816513C683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txBody>
            <a:bodyPr/>
            <a:lstStyle/>
            <a:p>
              <a:endParaRPr lang="en-IN"/>
            </a:p>
          </p:txBody>
        </p:sp>
        <p:sp>
          <p:nvSpPr>
            <p:cNvPr id="23" name="TextBox 16">
              <a:extLst>
                <a:ext uri="{FF2B5EF4-FFF2-40B4-BE49-F238E27FC236}">
                  <a16:creationId xmlns:a16="http://schemas.microsoft.com/office/drawing/2014/main" id="{28E181C5-5ADE-3D90-13FF-48B80967290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17">
            <a:extLst>
              <a:ext uri="{FF2B5EF4-FFF2-40B4-BE49-F238E27FC236}">
                <a16:creationId xmlns:a16="http://schemas.microsoft.com/office/drawing/2014/main" id="{6895DA7B-D404-C16C-4775-E32F65D943B1}"/>
              </a:ext>
            </a:extLst>
          </p:cNvPr>
          <p:cNvGrpSpPr/>
          <p:nvPr/>
        </p:nvGrpSpPr>
        <p:grpSpPr>
          <a:xfrm>
            <a:off x="15726118" y="8092877"/>
            <a:ext cx="4693046" cy="4693046"/>
            <a:chOff x="0" y="0"/>
            <a:chExt cx="812800" cy="812800"/>
          </a:xfrm>
        </p:grpSpPr>
        <p:sp>
          <p:nvSpPr>
            <p:cNvPr id="25" name="Freeform 18">
              <a:extLst>
                <a:ext uri="{FF2B5EF4-FFF2-40B4-BE49-F238E27FC236}">
                  <a16:creationId xmlns:a16="http://schemas.microsoft.com/office/drawing/2014/main" id="{27C8DF27-12E9-8C7E-7FB3-D67993C2BF9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FFFFFF">
                  <a:alpha val="15686"/>
                </a:srgbClr>
              </a:solidFill>
              <a:prstDash val="solid"/>
              <a:miter/>
            </a:ln>
          </p:spPr>
          <p:txBody>
            <a:bodyPr/>
            <a:lstStyle/>
            <a:p>
              <a:endParaRPr lang="en-IN"/>
            </a:p>
          </p:txBody>
        </p:sp>
        <p:sp>
          <p:nvSpPr>
            <p:cNvPr id="27" name="TextBox 19">
              <a:extLst>
                <a:ext uri="{FF2B5EF4-FFF2-40B4-BE49-F238E27FC236}">
                  <a16:creationId xmlns:a16="http://schemas.microsoft.com/office/drawing/2014/main" id="{C14353EE-7EF2-863F-0D2A-430E110D89F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11">
            <a:extLst>
              <a:ext uri="{FF2B5EF4-FFF2-40B4-BE49-F238E27FC236}">
                <a16:creationId xmlns:a16="http://schemas.microsoft.com/office/drawing/2014/main" id="{61DA47C2-BABF-0DED-BE4E-5A5A0345EB27}"/>
              </a:ext>
            </a:extLst>
          </p:cNvPr>
          <p:cNvGrpSpPr/>
          <p:nvPr/>
        </p:nvGrpSpPr>
        <p:grpSpPr>
          <a:xfrm>
            <a:off x="2946720" y="2693739"/>
            <a:ext cx="5841799" cy="5146658"/>
            <a:chOff x="0" y="0"/>
            <a:chExt cx="1554321" cy="1369365"/>
          </a:xfrm>
        </p:grpSpPr>
        <p:sp>
          <p:nvSpPr>
            <p:cNvPr id="32" name="Freeform 12">
              <a:extLst>
                <a:ext uri="{FF2B5EF4-FFF2-40B4-BE49-F238E27FC236}">
                  <a16:creationId xmlns:a16="http://schemas.microsoft.com/office/drawing/2014/main" id="{0D2BAEA9-1A4B-6C65-2F86-E7636053C5B7}"/>
                </a:ext>
              </a:extLst>
            </p:cNvPr>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33" name="TextBox 13">
              <a:extLst>
                <a:ext uri="{FF2B5EF4-FFF2-40B4-BE49-F238E27FC236}">
                  <a16:creationId xmlns:a16="http://schemas.microsoft.com/office/drawing/2014/main" id="{43980DFD-B9A3-20C5-4F1F-7293E2F6AE44}"/>
                </a:ext>
              </a:extLst>
            </p:cNvPr>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grpSp>
        <p:nvGrpSpPr>
          <p:cNvPr id="34" name="Group 5">
            <a:extLst>
              <a:ext uri="{FF2B5EF4-FFF2-40B4-BE49-F238E27FC236}">
                <a16:creationId xmlns:a16="http://schemas.microsoft.com/office/drawing/2014/main" id="{201FA769-E028-3D4D-2CFC-3D93CCCF6911}"/>
              </a:ext>
            </a:extLst>
          </p:cNvPr>
          <p:cNvGrpSpPr/>
          <p:nvPr/>
        </p:nvGrpSpPr>
        <p:grpSpPr>
          <a:xfrm>
            <a:off x="10958508" y="2665819"/>
            <a:ext cx="5841799" cy="5146658"/>
            <a:chOff x="0" y="0"/>
            <a:chExt cx="1554321" cy="1369365"/>
          </a:xfrm>
        </p:grpSpPr>
        <p:sp>
          <p:nvSpPr>
            <p:cNvPr id="35" name="Freeform 6">
              <a:extLst>
                <a:ext uri="{FF2B5EF4-FFF2-40B4-BE49-F238E27FC236}">
                  <a16:creationId xmlns:a16="http://schemas.microsoft.com/office/drawing/2014/main" id="{D29B47DF-88AE-ECAF-0F83-69D68EDA2EA1}"/>
                </a:ext>
              </a:extLst>
            </p:cNvPr>
            <p:cNvSpPr/>
            <p:nvPr/>
          </p:nvSpPr>
          <p:spPr>
            <a:xfrm>
              <a:off x="0" y="0"/>
              <a:ext cx="1554321" cy="1369365"/>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txBody>
            <a:bodyPr/>
            <a:lstStyle/>
            <a:p>
              <a:endParaRPr lang="en-IN"/>
            </a:p>
          </p:txBody>
        </p:sp>
        <p:sp>
          <p:nvSpPr>
            <p:cNvPr id="36" name="TextBox 7">
              <a:extLst>
                <a:ext uri="{FF2B5EF4-FFF2-40B4-BE49-F238E27FC236}">
                  <a16:creationId xmlns:a16="http://schemas.microsoft.com/office/drawing/2014/main" id="{9EA6E69B-39B7-A684-EF78-32E7E0DDDFE8}"/>
                </a:ext>
              </a:extLst>
            </p:cNvPr>
            <p:cNvSpPr txBox="1"/>
            <p:nvPr/>
          </p:nvSpPr>
          <p:spPr>
            <a:xfrm>
              <a:off x="0" y="-38100"/>
              <a:ext cx="1554321" cy="1407465"/>
            </a:xfrm>
            <a:prstGeom prst="rect">
              <a:avLst/>
            </a:prstGeom>
          </p:spPr>
          <p:txBody>
            <a:bodyPr lIns="50800" tIns="50800" rIns="50800" bIns="50800" rtlCol="0" anchor="ctr"/>
            <a:lstStyle/>
            <a:p>
              <a:pPr algn="ctr">
                <a:lnSpc>
                  <a:spcPts val="2659"/>
                </a:lnSpc>
              </a:pPr>
              <a:endParaRPr/>
            </a:p>
            <a:p>
              <a:pPr algn="ctr">
                <a:lnSpc>
                  <a:spcPts val="2659"/>
                </a:lnSpc>
              </a:pPr>
              <a:endParaRPr/>
            </a:p>
          </p:txBody>
        </p:sp>
      </p:grpSp>
      <p:sp>
        <p:nvSpPr>
          <p:cNvPr id="37" name="TextBox 29">
            <a:extLst>
              <a:ext uri="{FF2B5EF4-FFF2-40B4-BE49-F238E27FC236}">
                <a16:creationId xmlns:a16="http://schemas.microsoft.com/office/drawing/2014/main" id="{7EC26407-C75A-8333-1379-ED93F251F995}"/>
              </a:ext>
            </a:extLst>
          </p:cNvPr>
          <p:cNvSpPr txBox="1"/>
          <p:nvPr/>
        </p:nvSpPr>
        <p:spPr>
          <a:xfrm>
            <a:off x="2775983" y="7070201"/>
            <a:ext cx="6139993"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Utility Based Agent</a:t>
            </a:r>
          </a:p>
        </p:txBody>
      </p:sp>
      <p:pic>
        <p:nvPicPr>
          <p:cNvPr id="2054" name="Picture 6" descr="Story pin image">
            <a:extLst>
              <a:ext uri="{FF2B5EF4-FFF2-40B4-BE49-F238E27FC236}">
                <a16:creationId xmlns:a16="http://schemas.microsoft.com/office/drawing/2014/main" id="{4CC83B23-227A-AB31-B700-EDD9733B83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9923" y="3051510"/>
            <a:ext cx="5050489" cy="364102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38" name="Picture 2" descr="Story pin image">
            <a:extLst>
              <a:ext uri="{FF2B5EF4-FFF2-40B4-BE49-F238E27FC236}">
                <a16:creationId xmlns:a16="http://schemas.microsoft.com/office/drawing/2014/main" id="{0EEC0FB3-F761-0E06-D550-51A4A7C2A6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9641" y="2926268"/>
            <a:ext cx="5339532" cy="355107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9" name="TextBox 29">
            <a:extLst>
              <a:ext uri="{FF2B5EF4-FFF2-40B4-BE49-F238E27FC236}">
                <a16:creationId xmlns:a16="http://schemas.microsoft.com/office/drawing/2014/main" id="{6B38D61F-8CE0-5548-B1D2-23441AFF5664}"/>
              </a:ext>
            </a:extLst>
          </p:cNvPr>
          <p:cNvSpPr txBox="1"/>
          <p:nvPr/>
        </p:nvSpPr>
        <p:spPr>
          <a:xfrm>
            <a:off x="10809410" y="6993913"/>
            <a:ext cx="6139993" cy="461921"/>
          </a:xfrm>
          <a:prstGeom prst="rect">
            <a:avLst/>
          </a:prstGeom>
        </p:spPr>
        <p:txBody>
          <a:bodyPr wrap="square" lIns="0" tIns="0" rIns="0" bIns="0" rtlCol="0" anchor="t">
            <a:spAutoFit/>
          </a:bodyPr>
          <a:lstStyle/>
          <a:p>
            <a:pPr marL="0" lvl="0" indent="0" algn="ctr">
              <a:lnSpc>
                <a:spcPts val="3200"/>
              </a:lnSpc>
              <a:spcBef>
                <a:spcPct val="0"/>
              </a:spcBef>
            </a:pPr>
            <a:r>
              <a:rPr lang="en-US" sz="5400" spc="-57" dirty="0">
                <a:solidFill>
                  <a:srgbClr val="051D40"/>
                </a:solidFill>
                <a:latin typeface="Berlin Sans FB" panose="020E0602020502020306" pitchFamily="34" charset="0"/>
                <a:cs typeface="Poppins"/>
                <a:sym typeface="Montserrat"/>
              </a:rPr>
              <a:t>Learning Agent</a:t>
            </a:r>
          </a:p>
        </p:txBody>
      </p:sp>
    </p:spTree>
    <p:extLst>
      <p:ext uri="{BB962C8B-B14F-4D97-AF65-F5344CB8AC3E}">
        <p14:creationId xmlns:p14="http://schemas.microsoft.com/office/powerpoint/2010/main" val="665646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7242"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ln w="228600" cap="sq">
              <a:solidFill>
                <a:srgbClr val="145DA0"/>
              </a:solidFill>
              <a:prstDash val="solid"/>
              <a:miter/>
            </a:ln>
          </p:spPr>
          <p:txBody>
            <a:bodyPr/>
            <a:lstStyle/>
            <a:p>
              <a:endParaRPr lang="en-IN"/>
            </a:p>
          </p:txBody>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9" name="TextBox 12">
            <a:extLst>
              <a:ext uri="{FF2B5EF4-FFF2-40B4-BE49-F238E27FC236}">
                <a16:creationId xmlns:a16="http://schemas.microsoft.com/office/drawing/2014/main" id="{8F076ED0-E646-0ED5-1797-99D7B383FAAC}"/>
              </a:ext>
            </a:extLst>
          </p:cNvPr>
          <p:cNvSpPr txBox="1"/>
          <p:nvPr/>
        </p:nvSpPr>
        <p:spPr>
          <a:xfrm>
            <a:off x="1295400" y="1485900"/>
            <a:ext cx="12268200" cy="928524"/>
          </a:xfrm>
          <a:prstGeom prst="rect">
            <a:avLst/>
          </a:prstGeom>
        </p:spPr>
        <p:txBody>
          <a:bodyPr wrap="square" lIns="0" tIns="0" rIns="0" bIns="0" rtlCol="0" anchor="t">
            <a:spAutoFit/>
          </a:bodyPr>
          <a:lstStyle/>
          <a:p>
            <a:pPr algn="l">
              <a:lnSpc>
                <a:spcPts val="6300"/>
              </a:lnSpc>
              <a:spcBef>
                <a:spcPct val="0"/>
              </a:spcBef>
            </a:pPr>
            <a:r>
              <a:rPr lang="en-US" sz="11500" dirty="0">
                <a:solidFill>
                  <a:schemeClr val="accent1"/>
                </a:solidFill>
                <a:latin typeface="Berlin Sans FB Demi" panose="020E0802020502020306" pitchFamily="34" charset="0"/>
                <a:sym typeface="Montserrat"/>
              </a:rPr>
              <a:t>Implementations</a:t>
            </a:r>
          </a:p>
        </p:txBody>
      </p:sp>
      <p:sp>
        <p:nvSpPr>
          <p:cNvPr id="41" name="TextBox 40">
            <a:extLst>
              <a:ext uri="{FF2B5EF4-FFF2-40B4-BE49-F238E27FC236}">
                <a16:creationId xmlns:a16="http://schemas.microsoft.com/office/drawing/2014/main" id="{46712EE9-8176-3623-5462-533B396B61E2}"/>
              </a:ext>
            </a:extLst>
          </p:cNvPr>
          <p:cNvSpPr txBox="1"/>
          <p:nvPr/>
        </p:nvSpPr>
        <p:spPr>
          <a:xfrm>
            <a:off x="1014242" y="2749451"/>
            <a:ext cx="10896600" cy="7571303"/>
          </a:xfrm>
          <a:prstGeom prst="rect">
            <a:avLst/>
          </a:prstGeom>
          <a:noFill/>
        </p:spPr>
        <p:txBody>
          <a:bodyPr wrap="square" rtlCol="0">
            <a:spAutoFit/>
          </a:bodyPr>
          <a:lstStyle/>
          <a:p>
            <a:pPr algn="just"/>
            <a:r>
              <a:rPr lang="en-US" sz="5400" spc="-57" dirty="0">
                <a:solidFill>
                  <a:srgbClr val="051D40"/>
                </a:solidFill>
                <a:latin typeface="Berlin Sans FB" panose="020E0602020502020306" pitchFamily="34" charset="0"/>
                <a:cs typeface="Poppins"/>
              </a:rPr>
              <a:t>We have developed an AI agent for fake and real news classification to address the increasing spread of misinformation on digital platforms. The system uses Natural Language Processing and Machine Learning techniques to automatically analyze and classify news as real or fake.</a:t>
            </a:r>
          </a:p>
          <a:p>
            <a:endParaRPr lang="en-US" sz="5400" spc="-57" dirty="0">
              <a:solidFill>
                <a:srgbClr val="051D40"/>
              </a:solidFill>
              <a:latin typeface="Berlin Sans FB" panose="020E0602020502020306" pitchFamily="34" charset="0"/>
              <a:cs typeface="Poppins"/>
            </a:endParaRPr>
          </a:p>
        </p:txBody>
      </p:sp>
      <p:sp>
        <p:nvSpPr>
          <p:cNvPr id="42" name="Circle: Hollow 41">
            <a:extLst>
              <a:ext uri="{FF2B5EF4-FFF2-40B4-BE49-F238E27FC236}">
                <a16:creationId xmlns:a16="http://schemas.microsoft.com/office/drawing/2014/main" id="{CDE7FE08-1AA1-354A-5DE3-866046297E95}"/>
              </a:ext>
            </a:extLst>
          </p:cNvPr>
          <p:cNvSpPr/>
          <p:nvPr/>
        </p:nvSpPr>
        <p:spPr>
          <a:xfrm>
            <a:off x="12131561" y="2966522"/>
            <a:ext cx="5181600" cy="5181600"/>
          </a:xfrm>
          <a:prstGeom prst="donut">
            <a:avLst>
              <a:gd name="adj" fmla="val 100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3" name="Picture 6" descr="இதில் உள்ளவை: AI Chatbot">
            <a:extLst>
              <a:ext uri="{FF2B5EF4-FFF2-40B4-BE49-F238E27FC236}">
                <a16:creationId xmlns:a16="http://schemas.microsoft.com/office/drawing/2014/main" id="{640553F6-B5A0-13E2-BDC0-D0BA36BB1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522" y="3255740"/>
            <a:ext cx="4997677" cy="468509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2">
              <a:alphaModFix amt="1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2">
              <a:alphaModFix amt="14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Rectangle 9">
            <a:extLst>
              <a:ext uri="{FF2B5EF4-FFF2-40B4-BE49-F238E27FC236}">
                <a16:creationId xmlns:a16="http://schemas.microsoft.com/office/drawing/2014/main" id="{761340B0-2355-FF81-872E-4768F801EDE0}"/>
              </a:ext>
            </a:extLst>
          </p:cNvPr>
          <p:cNvSpPr/>
          <p:nvPr/>
        </p:nvSpPr>
        <p:spPr>
          <a:xfrm>
            <a:off x="0" y="0"/>
            <a:ext cx="18288000" cy="10287000"/>
          </a:xfrm>
          <a:prstGeom prst="rect">
            <a:avLst/>
          </a:prstGeom>
          <a:solidFill>
            <a:srgbClr val="145DA0"/>
          </a:solidFill>
          <a:ln>
            <a:solidFill>
              <a:srgbClr val="145D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2" name="Picture 4" descr="இதில் இருக்கலாம்: கணினித் திரையின் முன் ஒரு மேசையில் தகவல்களுடன் அமர்ந்திருக்கும் ஒரு ரோபோ.">
            <a:extLst>
              <a:ext uri="{FF2B5EF4-FFF2-40B4-BE49-F238E27FC236}">
                <a16:creationId xmlns:a16="http://schemas.microsoft.com/office/drawing/2014/main" id="{6B5DBBA5-1220-03F9-0434-95B2949ED058}"/>
              </a:ext>
            </a:extLst>
          </p:cNvPr>
          <p:cNvPicPr>
            <a:picLocks noChangeAspect="1" noChangeArrowheads="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87AB728-CCB4-C182-4159-F5FAA118412D}"/>
              </a:ext>
            </a:extLst>
          </p:cNvPr>
          <p:cNvPicPr>
            <a:picLocks noChangeAspect="1"/>
          </p:cNvPicPr>
          <p:nvPr/>
        </p:nvPicPr>
        <p:blipFill>
          <a:blip r:embed="rId5"/>
          <a:stretch>
            <a:fillRect/>
          </a:stretch>
        </p:blipFill>
        <p:spPr>
          <a:xfrm>
            <a:off x="693665" y="450088"/>
            <a:ext cx="6940256" cy="93868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310BEC9F-A076-F7A8-5172-945384EDB945}"/>
              </a:ext>
            </a:extLst>
          </p:cNvPr>
          <p:cNvPicPr>
            <a:picLocks noChangeAspect="1"/>
          </p:cNvPicPr>
          <p:nvPr/>
        </p:nvPicPr>
        <p:blipFill>
          <a:blip r:embed="rId6"/>
          <a:stretch>
            <a:fillRect/>
          </a:stretch>
        </p:blipFill>
        <p:spPr>
          <a:xfrm>
            <a:off x="10687563" y="911237"/>
            <a:ext cx="7040118" cy="9386824"/>
          </a:xfrm>
          <a:prstGeom prst="roundRect">
            <a:avLst>
              <a:gd name="adj" fmla="val 15753"/>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6"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80">
                                          <p:stCondLst>
                                            <p:cond delay="0"/>
                                          </p:stCondLst>
                                        </p:cTn>
                                        <p:tgtEl>
                                          <p:spTgt spid="12"/>
                                        </p:tgtEl>
                                      </p:cBhvr>
                                    </p:animEffect>
                                    <p:anim calcmode="lin" valueType="num">
                                      <p:cBhvr>
                                        <p:cTn id="12"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7" dur="26">
                                          <p:stCondLst>
                                            <p:cond delay="650"/>
                                          </p:stCondLst>
                                        </p:cTn>
                                        <p:tgtEl>
                                          <p:spTgt spid="12"/>
                                        </p:tgtEl>
                                      </p:cBhvr>
                                      <p:to x="100000" y="60000"/>
                                    </p:animScale>
                                    <p:animScale>
                                      <p:cBhvr>
                                        <p:cTn id="18" dur="166" decel="50000">
                                          <p:stCondLst>
                                            <p:cond delay="676"/>
                                          </p:stCondLst>
                                        </p:cTn>
                                        <p:tgtEl>
                                          <p:spTgt spid="12"/>
                                        </p:tgtEl>
                                      </p:cBhvr>
                                      <p:to x="100000" y="100000"/>
                                    </p:animScale>
                                    <p:animScale>
                                      <p:cBhvr>
                                        <p:cTn id="19" dur="26">
                                          <p:stCondLst>
                                            <p:cond delay="1312"/>
                                          </p:stCondLst>
                                        </p:cTn>
                                        <p:tgtEl>
                                          <p:spTgt spid="12"/>
                                        </p:tgtEl>
                                      </p:cBhvr>
                                      <p:to x="100000" y="80000"/>
                                    </p:animScale>
                                    <p:animScale>
                                      <p:cBhvr>
                                        <p:cTn id="20" dur="166" decel="50000">
                                          <p:stCondLst>
                                            <p:cond delay="1338"/>
                                          </p:stCondLst>
                                        </p:cTn>
                                        <p:tgtEl>
                                          <p:spTgt spid="12"/>
                                        </p:tgtEl>
                                      </p:cBhvr>
                                      <p:to x="100000" y="100000"/>
                                    </p:animScale>
                                    <p:animScale>
                                      <p:cBhvr>
                                        <p:cTn id="21" dur="26">
                                          <p:stCondLst>
                                            <p:cond delay="1642"/>
                                          </p:stCondLst>
                                        </p:cTn>
                                        <p:tgtEl>
                                          <p:spTgt spid="12"/>
                                        </p:tgtEl>
                                      </p:cBhvr>
                                      <p:to x="100000" y="90000"/>
                                    </p:animScale>
                                    <p:animScale>
                                      <p:cBhvr>
                                        <p:cTn id="22" dur="166" decel="50000">
                                          <p:stCondLst>
                                            <p:cond delay="1668"/>
                                          </p:stCondLst>
                                        </p:cTn>
                                        <p:tgtEl>
                                          <p:spTgt spid="12"/>
                                        </p:tgtEl>
                                      </p:cBhvr>
                                      <p:to x="100000" y="100000"/>
                                    </p:animScale>
                                    <p:animScale>
                                      <p:cBhvr>
                                        <p:cTn id="23" dur="26">
                                          <p:stCondLst>
                                            <p:cond delay="1808"/>
                                          </p:stCondLst>
                                        </p:cTn>
                                        <p:tgtEl>
                                          <p:spTgt spid="12"/>
                                        </p:tgtEl>
                                      </p:cBhvr>
                                      <p:to x="100000" y="95000"/>
                                    </p:animScale>
                                    <p:animScale>
                                      <p:cBhvr>
                                        <p:cTn id="24" dur="166" decel="50000">
                                          <p:stCondLst>
                                            <p:cond delay="1834"/>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3" name="TextBox 23"/>
          <p:cNvSpPr txBox="1"/>
          <p:nvPr/>
        </p:nvSpPr>
        <p:spPr>
          <a:xfrm>
            <a:off x="890191"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Aaron Loeb</a:t>
            </a:r>
          </a:p>
        </p:txBody>
      </p:sp>
      <p:sp>
        <p:nvSpPr>
          <p:cNvPr id="24" name="TextBox 24"/>
          <p:cNvSpPr txBox="1"/>
          <p:nvPr/>
        </p:nvSpPr>
        <p:spPr>
          <a:xfrm>
            <a:off x="890191"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id="25" name="TextBox 25"/>
          <p:cNvSpPr txBox="1"/>
          <p:nvPr/>
        </p:nvSpPr>
        <p:spPr>
          <a:xfrm>
            <a:off x="4357503" y="6962323"/>
            <a:ext cx="2641447" cy="375591"/>
          </a:xfrm>
          <a:prstGeom prst="rect">
            <a:avLst/>
          </a:prstGeom>
        </p:spPr>
        <p:txBody>
          <a:bodyPr lIns="0" tIns="0" rIns="0" bIns="0" rtlCol="0" anchor="t">
            <a:spAutoFit/>
          </a:bodyPr>
          <a:lstStyle/>
          <a:p>
            <a:pPr algn="ctr">
              <a:lnSpc>
                <a:spcPts val="2923"/>
              </a:lnSpc>
            </a:pPr>
            <a:r>
              <a:rPr lang="en-US" sz="2087" b="1" spc="39" dirty="0">
                <a:solidFill>
                  <a:srgbClr val="FDFDFD"/>
                </a:solidFill>
                <a:latin typeface="Poppins Bold"/>
                <a:ea typeface="Poppins Bold"/>
                <a:cs typeface="Poppins Bold"/>
                <a:sym typeface="Poppins Bold"/>
              </a:rPr>
              <a:t>Alfredo Torres</a:t>
            </a:r>
          </a:p>
        </p:txBody>
      </p:sp>
      <p:sp>
        <p:nvSpPr>
          <p:cNvPr id="26" name="TextBox 26"/>
          <p:cNvSpPr txBox="1"/>
          <p:nvPr/>
        </p:nvSpPr>
        <p:spPr>
          <a:xfrm>
            <a:off x="4357502" y="6653662"/>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Project manager</a:t>
            </a:r>
          </a:p>
        </p:txBody>
      </p:sp>
      <p:sp>
        <p:nvSpPr>
          <p:cNvPr id="27" name="TextBox 27"/>
          <p:cNvSpPr txBox="1"/>
          <p:nvPr/>
        </p:nvSpPr>
        <p:spPr>
          <a:xfrm>
            <a:off x="5381618" y="2437969"/>
            <a:ext cx="9824733" cy="433067"/>
          </a:xfrm>
          <a:prstGeom prst="rect">
            <a:avLst/>
          </a:prstGeom>
        </p:spPr>
        <p:txBody>
          <a:bodyPr wrap="square" lIns="0" tIns="0" rIns="0" bIns="0" rtlCol="0" anchor="t">
            <a:spAutoFit/>
          </a:bodyPr>
          <a:lstStyle/>
          <a:p>
            <a:pPr>
              <a:lnSpc>
                <a:spcPts val="2923"/>
              </a:lnSpc>
            </a:pPr>
            <a:r>
              <a:rPr lang="en-IN" sz="5400" spc="-57" dirty="0">
                <a:solidFill>
                  <a:srgbClr val="051D40"/>
                </a:solidFill>
                <a:latin typeface="Berlin Sans FB" panose="020E0602020502020306" pitchFamily="34" charset="0"/>
                <a:cs typeface="Poppins"/>
              </a:rPr>
              <a:t>Perception and Goal Definition</a:t>
            </a:r>
            <a:endParaRPr lang="en-US" sz="5400" spc="-57" dirty="0">
              <a:solidFill>
                <a:srgbClr val="051D40"/>
              </a:solidFill>
              <a:latin typeface="Berlin Sans FB" panose="020E0602020502020306" pitchFamily="34" charset="0"/>
              <a:cs typeface="Poppins"/>
              <a:sym typeface="Poppins Bold"/>
            </a:endParaRPr>
          </a:p>
        </p:txBody>
      </p:sp>
      <p:sp>
        <p:nvSpPr>
          <p:cNvPr id="28" name="TextBox 28"/>
          <p:cNvSpPr txBox="1"/>
          <p:nvPr/>
        </p:nvSpPr>
        <p:spPr>
          <a:xfrm>
            <a:off x="7823789"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CEO &amp; Founder</a:t>
            </a:r>
          </a:p>
        </p:txBody>
      </p:sp>
      <p:sp>
        <p:nvSpPr>
          <p:cNvPr id="29" name="TextBox 29"/>
          <p:cNvSpPr txBox="1"/>
          <p:nvPr/>
        </p:nvSpPr>
        <p:spPr>
          <a:xfrm>
            <a:off x="11290076"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Daniel Gallego</a:t>
            </a:r>
          </a:p>
        </p:txBody>
      </p:sp>
      <p:sp>
        <p:nvSpPr>
          <p:cNvPr id="30" name="TextBox 30"/>
          <p:cNvSpPr txBox="1"/>
          <p:nvPr/>
        </p:nvSpPr>
        <p:spPr>
          <a:xfrm>
            <a:off x="11290076"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IT Expert</a:t>
            </a:r>
          </a:p>
        </p:txBody>
      </p:sp>
      <p:sp>
        <p:nvSpPr>
          <p:cNvPr id="31" name="TextBox 31"/>
          <p:cNvSpPr txBox="1"/>
          <p:nvPr/>
        </p:nvSpPr>
        <p:spPr>
          <a:xfrm>
            <a:off x="14754134" y="6962323"/>
            <a:ext cx="2641447" cy="375591"/>
          </a:xfrm>
          <a:prstGeom prst="rect">
            <a:avLst/>
          </a:prstGeom>
        </p:spPr>
        <p:txBody>
          <a:bodyPr lIns="0" tIns="0" rIns="0" bIns="0" rtlCol="0" anchor="t">
            <a:spAutoFit/>
          </a:bodyPr>
          <a:lstStyle/>
          <a:p>
            <a:pPr algn="ctr">
              <a:lnSpc>
                <a:spcPts val="2923"/>
              </a:lnSpc>
            </a:pPr>
            <a:r>
              <a:rPr lang="en-US" sz="2087" b="1" spc="39">
                <a:solidFill>
                  <a:srgbClr val="FDFDFD"/>
                </a:solidFill>
                <a:latin typeface="Poppins Bold"/>
                <a:ea typeface="Poppins Bold"/>
                <a:cs typeface="Poppins Bold"/>
                <a:sym typeface="Poppins Bold"/>
              </a:rPr>
              <a:t>Olivia Wilson</a:t>
            </a:r>
          </a:p>
        </p:txBody>
      </p:sp>
      <p:sp>
        <p:nvSpPr>
          <p:cNvPr id="32" name="TextBox 32"/>
          <p:cNvSpPr txBox="1"/>
          <p:nvPr/>
        </p:nvSpPr>
        <p:spPr>
          <a:xfrm>
            <a:off x="14754134" y="7333651"/>
            <a:ext cx="2641447" cy="283516"/>
          </a:xfrm>
          <a:prstGeom prst="rect">
            <a:avLst/>
          </a:prstGeom>
        </p:spPr>
        <p:txBody>
          <a:bodyPr lIns="0" tIns="0" rIns="0" bIns="0" rtlCol="0" anchor="t">
            <a:spAutoFit/>
          </a:bodyPr>
          <a:lstStyle/>
          <a:p>
            <a:pPr algn="ctr">
              <a:lnSpc>
                <a:spcPts val="2223"/>
              </a:lnSpc>
            </a:pPr>
            <a:r>
              <a:rPr lang="en-US" sz="1587" spc="-31">
                <a:solidFill>
                  <a:srgbClr val="FDFDFD"/>
                </a:solidFill>
                <a:latin typeface="Poppins"/>
                <a:ea typeface="Poppins"/>
                <a:cs typeface="Poppins"/>
                <a:sym typeface="Poppins"/>
              </a:rPr>
              <a:t>Marketing Head</a:t>
            </a:r>
          </a:p>
        </p:txBody>
      </p:sp>
      <p:grpSp>
        <p:nvGrpSpPr>
          <p:cNvPr id="33" name="Group 33"/>
          <p:cNvGrpSpPr/>
          <p:nvPr/>
        </p:nvGrpSpPr>
        <p:grpSpPr>
          <a:xfrm>
            <a:off x="-1766494" y="9361251"/>
            <a:ext cx="21820987" cy="1750458"/>
            <a:chOff x="0" y="-59342"/>
            <a:chExt cx="6110362" cy="490167"/>
          </a:xfrm>
        </p:grpSpPr>
        <p:sp>
          <p:nvSpPr>
            <p:cNvPr id="34" name="Freeform 34"/>
            <p:cNvSpPr/>
            <p:nvPr/>
          </p:nvSpPr>
          <p:spPr>
            <a:xfrm>
              <a:off x="0" y="-59342"/>
              <a:ext cx="6110362" cy="490167"/>
            </a:xfrm>
            <a:custGeom>
              <a:avLst/>
              <a:gdLst/>
              <a:ahLst/>
              <a:cxnLst/>
              <a:rect l="l" t="t" r="r" b="b"/>
              <a:pathLst>
                <a:path w="6110362" h="265132">
                  <a:moveTo>
                    <a:pt x="0" y="0"/>
                  </a:moveTo>
                  <a:lnTo>
                    <a:pt x="6110362" y="0"/>
                  </a:lnTo>
                  <a:lnTo>
                    <a:pt x="6110362" y="265132"/>
                  </a:lnTo>
                  <a:lnTo>
                    <a:pt x="0" y="265132"/>
                  </a:lnTo>
                  <a:close/>
                </a:path>
              </a:pathLst>
            </a:custGeom>
            <a:solidFill>
              <a:srgbClr val="145DA0"/>
            </a:solidFill>
            <a:ln cap="sq">
              <a:noFill/>
              <a:prstDash val="solid"/>
              <a:miter/>
            </a:ln>
          </p:spPr>
          <p:txBody>
            <a:bodyPr/>
            <a:lstStyle/>
            <a:p>
              <a:endParaRPr lang="en-IN" dirty="0"/>
            </a:p>
          </p:txBody>
        </p:sp>
        <p:sp>
          <p:nvSpPr>
            <p:cNvPr id="35" name="TextBox 35"/>
            <p:cNvSpPr txBox="1"/>
            <p:nvPr/>
          </p:nvSpPr>
          <p:spPr>
            <a:xfrm>
              <a:off x="0" y="-38100"/>
              <a:ext cx="6110362" cy="30323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6" name="Group 36"/>
          <p:cNvGrpSpPr/>
          <p:nvPr/>
        </p:nvGrpSpPr>
        <p:grpSpPr>
          <a:xfrm>
            <a:off x="-1766494" y="-952137"/>
            <a:ext cx="21848028" cy="2715035"/>
            <a:chOff x="0" y="-38100"/>
            <a:chExt cx="6117934" cy="760270"/>
          </a:xfrm>
        </p:grpSpPr>
        <p:sp>
          <p:nvSpPr>
            <p:cNvPr id="37" name="Freeform 37"/>
            <p:cNvSpPr/>
            <p:nvPr/>
          </p:nvSpPr>
          <p:spPr>
            <a:xfrm>
              <a:off x="7572" y="228519"/>
              <a:ext cx="6110362" cy="493651"/>
            </a:xfrm>
            <a:custGeom>
              <a:avLst/>
              <a:gdLst/>
              <a:ahLst/>
              <a:cxnLst/>
              <a:rect l="l" t="t" r="r" b="b"/>
              <a:pathLst>
                <a:path w="6110362" h="493651">
                  <a:moveTo>
                    <a:pt x="0" y="0"/>
                  </a:moveTo>
                  <a:lnTo>
                    <a:pt x="6110362" y="0"/>
                  </a:lnTo>
                  <a:lnTo>
                    <a:pt x="6110362" y="493651"/>
                  </a:lnTo>
                  <a:lnTo>
                    <a:pt x="0" y="493651"/>
                  </a:lnTo>
                  <a:close/>
                </a:path>
              </a:pathLst>
            </a:custGeom>
            <a:solidFill>
              <a:srgbClr val="145DA0"/>
            </a:solidFill>
            <a:ln cap="sq">
              <a:noFill/>
              <a:prstDash val="solid"/>
              <a:miter/>
            </a:ln>
          </p:spPr>
          <p:txBody>
            <a:bodyPr/>
            <a:lstStyle/>
            <a:p>
              <a:endParaRPr lang="en-IN" dirty="0"/>
            </a:p>
          </p:txBody>
        </p:sp>
        <p:sp>
          <p:nvSpPr>
            <p:cNvPr id="38" name="TextBox 38"/>
            <p:cNvSpPr txBox="1"/>
            <p:nvPr/>
          </p:nvSpPr>
          <p:spPr>
            <a:xfrm>
              <a:off x="0" y="-38100"/>
              <a:ext cx="6110362" cy="53175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9" name="Group 33">
            <a:extLst>
              <a:ext uri="{FF2B5EF4-FFF2-40B4-BE49-F238E27FC236}">
                <a16:creationId xmlns:a16="http://schemas.microsoft.com/office/drawing/2014/main" id="{07CFE0C2-9070-594D-F556-E41FD6043AF2}"/>
              </a:ext>
            </a:extLst>
          </p:cNvPr>
          <p:cNvGrpSpPr/>
          <p:nvPr/>
        </p:nvGrpSpPr>
        <p:grpSpPr>
          <a:xfrm rot="5400000">
            <a:off x="-5774116" y="3560386"/>
            <a:ext cx="12919832" cy="1828799"/>
            <a:chOff x="0" y="0"/>
            <a:chExt cx="6110362" cy="265132"/>
          </a:xfrm>
        </p:grpSpPr>
        <p:sp>
          <p:nvSpPr>
            <p:cNvPr id="40" name="Freeform 34">
              <a:extLst>
                <a:ext uri="{FF2B5EF4-FFF2-40B4-BE49-F238E27FC236}">
                  <a16:creationId xmlns:a16="http://schemas.microsoft.com/office/drawing/2014/main" id="{E41BC113-D37C-E5EB-FEC8-8536949892BA}"/>
                </a:ext>
              </a:extLst>
            </p:cNvPr>
            <p:cNvSpPr/>
            <p:nvPr/>
          </p:nvSpPr>
          <p:spPr>
            <a:xfrm>
              <a:off x="0" y="0"/>
              <a:ext cx="6110362" cy="265132"/>
            </a:xfrm>
            <a:custGeom>
              <a:avLst/>
              <a:gdLst/>
              <a:ahLst/>
              <a:cxnLst/>
              <a:rect l="l" t="t" r="r" b="b"/>
              <a:pathLst>
                <a:path w="6110362" h="265132">
                  <a:moveTo>
                    <a:pt x="0" y="0"/>
                  </a:moveTo>
                  <a:lnTo>
                    <a:pt x="6110362" y="0"/>
                  </a:lnTo>
                  <a:lnTo>
                    <a:pt x="6110362" y="265132"/>
                  </a:lnTo>
                  <a:lnTo>
                    <a:pt x="0" y="265132"/>
                  </a:lnTo>
                  <a:close/>
                </a:path>
              </a:pathLst>
            </a:custGeom>
            <a:solidFill>
              <a:srgbClr val="145DA0"/>
            </a:solidFill>
            <a:ln cap="sq">
              <a:noFill/>
              <a:prstDash val="solid"/>
              <a:miter/>
            </a:ln>
          </p:spPr>
          <p:txBody>
            <a:bodyPr/>
            <a:lstStyle/>
            <a:p>
              <a:endParaRPr lang="en-IN"/>
            </a:p>
          </p:txBody>
        </p:sp>
        <p:sp>
          <p:nvSpPr>
            <p:cNvPr id="41" name="TextBox 35">
              <a:extLst>
                <a:ext uri="{FF2B5EF4-FFF2-40B4-BE49-F238E27FC236}">
                  <a16:creationId xmlns:a16="http://schemas.microsoft.com/office/drawing/2014/main" id="{EB4BA958-D870-0B2A-EF9D-42BFF5DB2B5A}"/>
                </a:ext>
              </a:extLst>
            </p:cNvPr>
            <p:cNvSpPr txBox="1"/>
            <p:nvPr/>
          </p:nvSpPr>
          <p:spPr>
            <a:xfrm>
              <a:off x="0" y="-38100"/>
              <a:ext cx="6110362" cy="30323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42" name="Freeform 34">
            <a:extLst>
              <a:ext uri="{FF2B5EF4-FFF2-40B4-BE49-F238E27FC236}">
                <a16:creationId xmlns:a16="http://schemas.microsoft.com/office/drawing/2014/main" id="{2503FB38-2F51-6A9B-6DE9-E891A09AA283}"/>
              </a:ext>
            </a:extLst>
          </p:cNvPr>
          <p:cNvSpPr/>
          <p:nvPr/>
        </p:nvSpPr>
        <p:spPr>
          <a:xfrm rot="5400000">
            <a:off x="10935664" y="4229100"/>
            <a:ext cx="12919832" cy="1828799"/>
          </a:xfrm>
          <a:custGeom>
            <a:avLst/>
            <a:gdLst/>
            <a:ahLst/>
            <a:cxnLst/>
            <a:rect l="l" t="t" r="r" b="b"/>
            <a:pathLst>
              <a:path w="6110362" h="265132">
                <a:moveTo>
                  <a:pt x="0" y="0"/>
                </a:moveTo>
                <a:lnTo>
                  <a:pt x="6110362" y="0"/>
                </a:lnTo>
                <a:lnTo>
                  <a:pt x="6110362" y="265132"/>
                </a:lnTo>
                <a:lnTo>
                  <a:pt x="0" y="265132"/>
                </a:lnTo>
                <a:close/>
              </a:path>
            </a:pathLst>
          </a:custGeom>
          <a:solidFill>
            <a:srgbClr val="145DA0"/>
          </a:solidFill>
          <a:ln cap="sq">
            <a:noFill/>
            <a:prstDash val="solid"/>
            <a:miter/>
          </a:ln>
        </p:spPr>
        <p:txBody>
          <a:bodyPr/>
          <a:lstStyle/>
          <a:p>
            <a:endParaRPr lang="en-IN"/>
          </a:p>
        </p:txBody>
      </p:sp>
      <p:sp>
        <p:nvSpPr>
          <p:cNvPr id="43" name="TextBox 42">
            <a:extLst>
              <a:ext uri="{FF2B5EF4-FFF2-40B4-BE49-F238E27FC236}">
                <a16:creationId xmlns:a16="http://schemas.microsoft.com/office/drawing/2014/main" id="{5CF74F75-2546-E836-E212-01A060027AA4}"/>
              </a:ext>
            </a:extLst>
          </p:cNvPr>
          <p:cNvSpPr txBox="1"/>
          <p:nvPr/>
        </p:nvSpPr>
        <p:spPr>
          <a:xfrm>
            <a:off x="1661654" y="-159680"/>
            <a:ext cx="12949542" cy="1862048"/>
          </a:xfrm>
          <a:prstGeom prst="rect">
            <a:avLst/>
          </a:prstGeom>
          <a:noFill/>
        </p:spPr>
        <p:txBody>
          <a:bodyPr wrap="square" rtlCol="0">
            <a:spAutoFit/>
          </a:bodyPr>
          <a:lstStyle/>
          <a:p>
            <a:r>
              <a:rPr lang="en-US" sz="11500" dirty="0">
                <a:solidFill>
                  <a:schemeClr val="bg1"/>
                </a:solidFill>
                <a:latin typeface="Berlin Sans FB Demi" panose="020E0802020502020306" pitchFamily="34" charset="0"/>
              </a:rPr>
              <a:t>How does it works ?</a:t>
            </a:r>
            <a:endParaRPr lang="en-IN" sz="11500" dirty="0">
              <a:solidFill>
                <a:schemeClr val="bg1"/>
              </a:solidFill>
              <a:latin typeface="Berlin Sans FB Demi" panose="020E0802020502020306" pitchFamily="34" charset="0"/>
            </a:endParaRPr>
          </a:p>
        </p:txBody>
      </p:sp>
      <p:sp>
        <p:nvSpPr>
          <p:cNvPr id="44" name="Circle: Hollow 43">
            <a:extLst>
              <a:ext uri="{FF2B5EF4-FFF2-40B4-BE49-F238E27FC236}">
                <a16:creationId xmlns:a16="http://schemas.microsoft.com/office/drawing/2014/main" id="{2367890F-53F3-E9B7-2508-6AF25DF9DB2E}"/>
              </a:ext>
            </a:extLst>
          </p:cNvPr>
          <p:cNvSpPr/>
          <p:nvPr/>
        </p:nvSpPr>
        <p:spPr>
          <a:xfrm>
            <a:off x="3739882" y="1819706"/>
            <a:ext cx="1406657" cy="1332313"/>
          </a:xfrm>
          <a:prstGeom prst="donut">
            <a:avLst/>
          </a:prstGeom>
          <a:solidFill>
            <a:srgbClr val="145DA0"/>
          </a:solidFill>
          <a:ln>
            <a:solidFill>
              <a:srgbClr val="145D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Berlin Sans FB Demi" panose="020E0802020502020306" pitchFamily="34" charset="0"/>
              </a:rPr>
              <a:t>1</a:t>
            </a:r>
            <a:endParaRPr lang="en-IN" sz="2800" b="1" dirty="0">
              <a:solidFill>
                <a:schemeClr val="tx1"/>
              </a:solidFill>
              <a:latin typeface="Berlin Sans FB Demi" panose="020E0802020502020306" pitchFamily="34" charset="0"/>
            </a:endParaRPr>
          </a:p>
        </p:txBody>
      </p:sp>
      <p:cxnSp>
        <p:nvCxnSpPr>
          <p:cNvPr id="46" name="Straight Connector 45">
            <a:extLst>
              <a:ext uri="{FF2B5EF4-FFF2-40B4-BE49-F238E27FC236}">
                <a16:creationId xmlns:a16="http://schemas.microsoft.com/office/drawing/2014/main" id="{4959D794-6BE6-DB77-576A-F3384847A38A}"/>
              </a:ext>
            </a:extLst>
          </p:cNvPr>
          <p:cNvCxnSpPr>
            <a:cxnSpLocks/>
            <a:stCxn id="44" idx="4"/>
          </p:cNvCxnSpPr>
          <p:nvPr/>
        </p:nvCxnSpPr>
        <p:spPr>
          <a:xfrm>
            <a:off x="4443211" y="3152019"/>
            <a:ext cx="0" cy="655969"/>
          </a:xfrm>
          <a:prstGeom prst="line">
            <a:avLst/>
          </a:prstGeom>
        </p:spPr>
        <p:style>
          <a:lnRef idx="3">
            <a:schemeClr val="accent1"/>
          </a:lnRef>
          <a:fillRef idx="0">
            <a:schemeClr val="accent1"/>
          </a:fillRef>
          <a:effectRef idx="2">
            <a:schemeClr val="accent1"/>
          </a:effectRef>
          <a:fontRef idx="minor">
            <a:schemeClr val="tx1"/>
          </a:fontRef>
        </p:style>
      </p:cxnSp>
      <p:sp>
        <p:nvSpPr>
          <p:cNvPr id="49" name="Circle: Hollow 48">
            <a:extLst>
              <a:ext uri="{FF2B5EF4-FFF2-40B4-BE49-F238E27FC236}">
                <a16:creationId xmlns:a16="http://schemas.microsoft.com/office/drawing/2014/main" id="{5DD0CED2-EB1F-4000-7517-6E201501A0FD}"/>
              </a:ext>
            </a:extLst>
          </p:cNvPr>
          <p:cNvSpPr/>
          <p:nvPr/>
        </p:nvSpPr>
        <p:spPr>
          <a:xfrm>
            <a:off x="3772322" y="3786252"/>
            <a:ext cx="1406657" cy="1332313"/>
          </a:xfrm>
          <a:prstGeom prst="donut">
            <a:avLst/>
          </a:prstGeom>
          <a:solidFill>
            <a:srgbClr val="145DA0"/>
          </a:solidFill>
          <a:ln>
            <a:solidFill>
              <a:srgbClr val="145D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Berlin Sans FB Demi" panose="020E0802020502020306" pitchFamily="34" charset="0"/>
              </a:rPr>
              <a:t>2</a:t>
            </a:r>
            <a:endParaRPr lang="en-IN" sz="2800" b="1" dirty="0">
              <a:solidFill>
                <a:schemeClr val="tx1"/>
              </a:solidFill>
              <a:latin typeface="Berlin Sans FB Demi" panose="020E0802020502020306" pitchFamily="34" charset="0"/>
            </a:endParaRPr>
          </a:p>
        </p:txBody>
      </p:sp>
      <p:sp>
        <p:nvSpPr>
          <p:cNvPr id="50" name="Circle: Hollow 49">
            <a:extLst>
              <a:ext uri="{FF2B5EF4-FFF2-40B4-BE49-F238E27FC236}">
                <a16:creationId xmlns:a16="http://schemas.microsoft.com/office/drawing/2014/main" id="{498C92DA-0A34-8573-B792-B60DECF67474}"/>
              </a:ext>
            </a:extLst>
          </p:cNvPr>
          <p:cNvSpPr/>
          <p:nvPr/>
        </p:nvSpPr>
        <p:spPr>
          <a:xfrm>
            <a:off x="3752036" y="5780601"/>
            <a:ext cx="1406657" cy="1332313"/>
          </a:xfrm>
          <a:prstGeom prst="donut">
            <a:avLst/>
          </a:prstGeom>
          <a:solidFill>
            <a:srgbClr val="145DA0"/>
          </a:solidFill>
          <a:ln>
            <a:solidFill>
              <a:srgbClr val="145D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Berlin Sans FB Demi" panose="020E0802020502020306" pitchFamily="34" charset="0"/>
              </a:rPr>
              <a:t>3</a:t>
            </a:r>
            <a:endParaRPr lang="en-IN" sz="2800" b="1" dirty="0">
              <a:solidFill>
                <a:schemeClr val="tx1"/>
              </a:solidFill>
              <a:latin typeface="Berlin Sans FB Demi" panose="020E0802020502020306" pitchFamily="34" charset="0"/>
            </a:endParaRPr>
          </a:p>
        </p:txBody>
      </p:sp>
      <p:cxnSp>
        <p:nvCxnSpPr>
          <p:cNvPr id="52" name="Straight Connector 51">
            <a:extLst>
              <a:ext uri="{FF2B5EF4-FFF2-40B4-BE49-F238E27FC236}">
                <a16:creationId xmlns:a16="http://schemas.microsoft.com/office/drawing/2014/main" id="{79C59762-2E8F-3A91-F7A6-5111DBA4F009}"/>
              </a:ext>
            </a:extLst>
          </p:cNvPr>
          <p:cNvCxnSpPr>
            <a:cxnSpLocks/>
          </p:cNvCxnSpPr>
          <p:nvPr/>
        </p:nvCxnSpPr>
        <p:spPr>
          <a:xfrm>
            <a:off x="4443210" y="5143499"/>
            <a:ext cx="0" cy="655969"/>
          </a:xfrm>
          <a:prstGeom prst="line">
            <a:avLst/>
          </a:prstGeom>
        </p:spPr>
        <p:style>
          <a:lnRef idx="3">
            <a:schemeClr val="accent1"/>
          </a:lnRef>
          <a:fillRef idx="0">
            <a:schemeClr val="accent1"/>
          </a:fillRef>
          <a:effectRef idx="2">
            <a:schemeClr val="accent1"/>
          </a:effectRef>
          <a:fontRef idx="minor">
            <a:schemeClr val="tx1"/>
          </a:fontRef>
        </p:style>
      </p:cxnSp>
      <p:cxnSp>
        <p:nvCxnSpPr>
          <p:cNvPr id="53" name="Straight Connector 52">
            <a:extLst>
              <a:ext uri="{FF2B5EF4-FFF2-40B4-BE49-F238E27FC236}">
                <a16:creationId xmlns:a16="http://schemas.microsoft.com/office/drawing/2014/main" id="{A78F6F63-0943-A908-0BD8-B1A1330B6490}"/>
              </a:ext>
            </a:extLst>
          </p:cNvPr>
          <p:cNvCxnSpPr>
            <a:cxnSpLocks/>
          </p:cNvCxnSpPr>
          <p:nvPr/>
        </p:nvCxnSpPr>
        <p:spPr>
          <a:xfrm>
            <a:off x="4455364" y="7108725"/>
            <a:ext cx="0" cy="655969"/>
          </a:xfrm>
          <a:prstGeom prst="line">
            <a:avLst/>
          </a:prstGeom>
        </p:spPr>
        <p:style>
          <a:lnRef idx="3">
            <a:schemeClr val="accent1"/>
          </a:lnRef>
          <a:fillRef idx="0">
            <a:schemeClr val="accent1"/>
          </a:fillRef>
          <a:effectRef idx="2">
            <a:schemeClr val="accent1"/>
          </a:effectRef>
          <a:fontRef idx="minor">
            <a:schemeClr val="tx1"/>
          </a:fontRef>
        </p:style>
      </p:cxnSp>
      <p:sp>
        <p:nvSpPr>
          <p:cNvPr id="54" name="Circle: Hollow 53">
            <a:extLst>
              <a:ext uri="{FF2B5EF4-FFF2-40B4-BE49-F238E27FC236}">
                <a16:creationId xmlns:a16="http://schemas.microsoft.com/office/drawing/2014/main" id="{236532F9-6663-2DBE-5E26-C3B67393226D}"/>
              </a:ext>
            </a:extLst>
          </p:cNvPr>
          <p:cNvSpPr/>
          <p:nvPr/>
        </p:nvSpPr>
        <p:spPr>
          <a:xfrm>
            <a:off x="3739882" y="7774951"/>
            <a:ext cx="1406657" cy="1361300"/>
          </a:xfrm>
          <a:prstGeom prst="donut">
            <a:avLst/>
          </a:prstGeom>
          <a:solidFill>
            <a:srgbClr val="145DA0"/>
          </a:solidFill>
          <a:ln>
            <a:solidFill>
              <a:srgbClr val="145D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erlin Sans FB Demi" panose="020E0802020502020306" pitchFamily="34" charset="0"/>
              </a:rPr>
              <a:t>4</a:t>
            </a:r>
            <a:endParaRPr lang="en-IN" sz="2800" dirty="0">
              <a:solidFill>
                <a:schemeClr val="tx1"/>
              </a:solidFill>
              <a:latin typeface="Berlin Sans FB Demi" panose="020E0802020502020306" pitchFamily="34" charset="0"/>
            </a:endParaRPr>
          </a:p>
        </p:txBody>
      </p:sp>
      <p:sp>
        <p:nvSpPr>
          <p:cNvPr id="2" name="TextBox 1">
            <a:extLst>
              <a:ext uri="{FF2B5EF4-FFF2-40B4-BE49-F238E27FC236}">
                <a16:creationId xmlns:a16="http://schemas.microsoft.com/office/drawing/2014/main" id="{12F83974-22EE-F70F-04D4-865E596A5017}"/>
              </a:ext>
            </a:extLst>
          </p:cNvPr>
          <p:cNvSpPr txBox="1"/>
          <p:nvPr/>
        </p:nvSpPr>
        <p:spPr>
          <a:xfrm>
            <a:off x="5381618" y="3990743"/>
            <a:ext cx="6970975" cy="923330"/>
          </a:xfrm>
          <a:prstGeom prst="rect">
            <a:avLst/>
          </a:prstGeom>
          <a:noFill/>
        </p:spPr>
        <p:txBody>
          <a:bodyPr wrap="square" rtlCol="0">
            <a:spAutoFit/>
          </a:bodyPr>
          <a:lstStyle/>
          <a:p>
            <a:r>
              <a:rPr lang="en-IN" sz="5400" spc="-57" dirty="0">
                <a:solidFill>
                  <a:srgbClr val="051D40"/>
                </a:solidFill>
                <a:latin typeface="Berlin Sans FB" panose="020E0602020502020306" pitchFamily="34" charset="0"/>
                <a:cs typeface="Poppins"/>
              </a:rPr>
              <a:t>Reasoning and Planning</a:t>
            </a:r>
          </a:p>
        </p:txBody>
      </p:sp>
      <p:sp>
        <p:nvSpPr>
          <p:cNvPr id="3" name="TextBox 2">
            <a:extLst>
              <a:ext uri="{FF2B5EF4-FFF2-40B4-BE49-F238E27FC236}">
                <a16:creationId xmlns:a16="http://schemas.microsoft.com/office/drawing/2014/main" id="{687F6742-C7B3-569E-62AF-B1C3009F98FC}"/>
              </a:ext>
            </a:extLst>
          </p:cNvPr>
          <p:cNvSpPr txBox="1"/>
          <p:nvPr/>
        </p:nvSpPr>
        <p:spPr>
          <a:xfrm>
            <a:off x="5381617" y="8010610"/>
            <a:ext cx="6970975" cy="923330"/>
          </a:xfrm>
          <a:prstGeom prst="rect">
            <a:avLst/>
          </a:prstGeom>
          <a:noFill/>
        </p:spPr>
        <p:txBody>
          <a:bodyPr wrap="square" rtlCol="0">
            <a:spAutoFit/>
          </a:bodyPr>
          <a:lstStyle/>
          <a:p>
            <a:r>
              <a:rPr lang="en-IN" sz="5400" spc="-57" dirty="0">
                <a:solidFill>
                  <a:srgbClr val="051D40"/>
                </a:solidFill>
                <a:latin typeface="Berlin Sans FB" panose="020E0602020502020306" pitchFamily="34" charset="0"/>
                <a:cs typeface="Poppins"/>
              </a:rPr>
              <a:t>Memory and Reflection</a:t>
            </a:r>
          </a:p>
        </p:txBody>
      </p:sp>
      <p:sp>
        <p:nvSpPr>
          <p:cNvPr id="4" name="TextBox 3">
            <a:extLst>
              <a:ext uri="{FF2B5EF4-FFF2-40B4-BE49-F238E27FC236}">
                <a16:creationId xmlns:a16="http://schemas.microsoft.com/office/drawing/2014/main" id="{36DDB857-5AB3-C560-2351-46A2E501476D}"/>
              </a:ext>
            </a:extLst>
          </p:cNvPr>
          <p:cNvSpPr txBox="1"/>
          <p:nvPr/>
        </p:nvSpPr>
        <p:spPr>
          <a:xfrm>
            <a:off x="5423801" y="5985092"/>
            <a:ext cx="6970975" cy="923330"/>
          </a:xfrm>
          <a:prstGeom prst="rect">
            <a:avLst/>
          </a:prstGeom>
          <a:noFill/>
        </p:spPr>
        <p:txBody>
          <a:bodyPr wrap="square" rtlCol="0">
            <a:spAutoFit/>
          </a:bodyPr>
          <a:lstStyle/>
          <a:p>
            <a:r>
              <a:rPr lang="en-IN" sz="5400" spc="-57" dirty="0">
                <a:solidFill>
                  <a:srgbClr val="051D40"/>
                </a:solidFill>
                <a:latin typeface="Berlin Sans FB" panose="020E0602020502020306" pitchFamily="34" charset="0"/>
                <a:cs typeface="Poppins"/>
              </a:rPr>
              <a:t>Execution via Tools</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5" name="TextBox 5"/>
          <p:cNvSpPr txBox="1"/>
          <p:nvPr/>
        </p:nvSpPr>
        <p:spPr>
          <a:xfrm>
            <a:off x="2200267" y="1673977"/>
            <a:ext cx="3889492" cy="971059"/>
          </a:xfrm>
          <a:prstGeom prst="rect">
            <a:avLst/>
          </a:prstGeom>
        </p:spPr>
        <p:txBody>
          <a:bodyPr lIns="0" tIns="0" rIns="0" bIns="0" rtlCol="0" anchor="t">
            <a:spAutoFit/>
          </a:bodyPr>
          <a:lstStyle/>
          <a:p>
            <a:pPr marL="0" lvl="0" indent="0" algn="l">
              <a:lnSpc>
                <a:spcPts val="7902"/>
              </a:lnSpc>
              <a:spcBef>
                <a:spcPct val="0"/>
              </a:spcBef>
            </a:pPr>
            <a:r>
              <a:rPr lang="en-US" sz="5644" b="1" u="none" strike="noStrike" dirty="0">
                <a:solidFill>
                  <a:srgbClr val="FDFDFD"/>
                </a:solidFill>
                <a:latin typeface="Montserrat Bold"/>
                <a:ea typeface="Montserrat Bold"/>
                <a:cs typeface="Montserrat Bold"/>
                <a:sym typeface="Montserrat Bold"/>
              </a:rPr>
              <a:t>Statistics</a:t>
            </a:r>
          </a:p>
        </p:txBody>
      </p:sp>
      <p:sp>
        <p:nvSpPr>
          <p:cNvPr id="6" name="TextBox 6"/>
          <p:cNvSpPr txBox="1"/>
          <p:nvPr/>
        </p:nvSpPr>
        <p:spPr>
          <a:xfrm>
            <a:off x="2200267" y="5830678"/>
            <a:ext cx="2370352" cy="357988"/>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ea typeface="Poppins"/>
                <a:cs typeface="Poppins"/>
                <a:sym typeface="Poppins"/>
              </a:rPr>
              <a:t>Revenue Growth</a:t>
            </a:r>
          </a:p>
        </p:txBody>
      </p:sp>
      <p:sp>
        <p:nvSpPr>
          <p:cNvPr id="7" name="TextBox 7"/>
          <p:cNvSpPr txBox="1"/>
          <p:nvPr/>
        </p:nvSpPr>
        <p:spPr>
          <a:xfrm>
            <a:off x="2200267" y="4776684"/>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Montserrat"/>
                <a:ea typeface="Montserrat"/>
                <a:cs typeface="Montserrat"/>
                <a:sym typeface="Montserrat"/>
              </a:rPr>
              <a:t>80%</a:t>
            </a:r>
          </a:p>
        </p:txBody>
      </p:sp>
      <p:sp>
        <p:nvSpPr>
          <p:cNvPr id="9" name="TextBox 9"/>
          <p:cNvSpPr txBox="1"/>
          <p:nvPr/>
        </p:nvSpPr>
        <p:spPr>
          <a:xfrm>
            <a:off x="2200267" y="2713716"/>
            <a:ext cx="5754831" cy="1415263"/>
          </a:xfrm>
          <a:prstGeom prst="rect">
            <a:avLst/>
          </a:prstGeom>
        </p:spPr>
        <p:txBody>
          <a:bodyPr lIns="0" tIns="0" rIns="0" bIns="0" rtlCol="0" anchor="t">
            <a:spAutoFit/>
          </a:bodyPr>
          <a:lstStyle/>
          <a:p>
            <a:pPr marL="0" lvl="0" indent="0" algn="l">
              <a:lnSpc>
                <a:spcPts val="2843"/>
              </a:lnSpc>
              <a:spcBef>
                <a:spcPct val="0"/>
              </a:spcBef>
            </a:pPr>
            <a:r>
              <a:rPr lang="en-US" sz="2030" u="none" strike="noStrike" spc="-40">
                <a:solidFill>
                  <a:srgbClr val="FDFDFD"/>
                </a:solidFill>
                <a:latin typeface="Poppins"/>
                <a:ea typeface="Poppins"/>
                <a:cs typeface="Poppins"/>
                <a:sym typeface="Poppins"/>
              </a:rPr>
              <a:t>Lorem ipsum dolor sit amet, consectetur adipiscing elit. Integer nec sagittis mauris, vitae vehicula urna. Curabitur ultrices urna sit amet magna ultricies ornare. Curabitur ligula.</a:t>
            </a:r>
          </a:p>
        </p:txBody>
      </p:sp>
      <p:sp>
        <p:nvSpPr>
          <p:cNvPr id="10" name="TextBox 10"/>
          <p:cNvSpPr txBox="1"/>
          <p:nvPr/>
        </p:nvSpPr>
        <p:spPr>
          <a:xfrm>
            <a:off x="5301262" y="5830678"/>
            <a:ext cx="2370352" cy="710413"/>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ea typeface="Poppins"/>
                <a:cs typeface="Poppins"/>
                <a:sym typeface="Poppins"/>
              </a:rPr>
              <a:t>Return on Investment</a:t>
            </a:r>
          </a:p>
        </p:txBody>
      </p:sp>
      <p:sp>
        <p:nvSpPr>
          <p:cNvPr id="11" name="TextBox 11"/>
          <p:cNvSpPr txBox="1"/>
          <p:nvPr/>
        </p:nvSpPr>
        <p:spPr>
          <a:xfrm>
            <a:off x="5301262" y="4776684"/>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Montserrat"/>
                <a:ea typeface="Montserrat"/>
                <a:cs typeface="Montserrat"/>
                <a:sym typeface="Montserrat"/>
              </a:rPr>
              <a:t>10%</a:t>
            </a:r>
          </a:p>
        </p:txBody>
      </p:sp>
      <p:sp>
        <p:nvSpPr>
          <p:cNvPr id="12" name="TextBox 12"/>
          <p:cNvSpPr txBox="1"/>
          <p:nvPr/>
        </p:nvSpPr>
        <p:spPr>
          <a:xfrm>
            <a:off x="2200267" y="7748439"/>
            <a:ext cx="2370352" cy="710413"/>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ea typeface="Poppins"/>
                <a:cs typeface="Poppins"/>
                <a:sym typeface="Poppins"/>
              </a:rPr>
              <a:t>Customer Acquisition Cost</a:t>
            </a:r>
          </a:p>
        </p:txBody>
      </p:sp>
      <p:sp>
        <p:nvSpPr>
          <p:cNvPr id="13" name="TextBox 13"/>
          <p:cNvSpPr txBox="1"/>
          <p:nvPr/>
        </p:nvSpPr>
        <p:spPr>
          <a:xfrm>
            <a:off x="2200267" y="6694445"/>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Montserrat"/>
                <a:ea typeface="Montserrat"/>
                <a:cs typeface="Montserrat"/>
                <a:sym typeface="Montserrat"/>
              </a:rPr>
              <a:t>20%</a:t>
            </a:r>
          </a:p>
        </p:txBody>
      </p:sp>
      <p:sp>
        <p:nvSpPr>
          <p:cNvPr id="14" name="TextBox 14"/>
          <p:cNvSpPr txBox="1"/>
          <p:nvPr/>
        </p:nvSpPr>
        <p:spPr>
          <a:xfrm>
            <a:off x="5301262" y="7748439"/>
            <a:ext cx="2370352" cy="710413"/>
          </a:xfrm>
          <a:prstGeom prst="rect">
            <a:avLst/>
          </a:prstGeom>
        </p:spPr>
        <p:txBody>
          <a:bodyPr lIns="0" tIns="0" rIns="0" bIns="0" rtlCol="0" anchor="t">
            <a:spAutoFit/>
          </a:bodyPr>
          <a:lstStyle/>
          <a:p>
            <a:pPr marL="0" lvl="0" indent="0" algn="ctr">
              <a:lnSpc>
                <a:spcPts val="2843"/>
              </a:lnSpc>
              <a:spcBef>
                <a:spcPct val="0"/>
              </a:spcBef>
            </a:pPr>
            <a:r>
              <a:rPr lang="en-US" sz="2030" u="none" strike="noStrike" spc="-40">
                <a:solidFill>
                  <a:srgbClr val="FDFDFD"/>
                </a:solidFill>
                <a:latin typeface="Poppins"/>
                <a:ea typeface="Poppins"/>
                <a:cs typeface="Poppins"/>
                <a:sym typeface="Poppins"/>
              </a:rPr>
              <a:t>Customer Satisfaction</a:t>
            </a:r>
          </a:p>
        </p:txBody>
      </p:sp>
      <p:sp>
        <p:nvSpPr>
          <p:cNvPr id="15" name="TextBox 15"/>
          <p:cNvSpPr txBox="1"/>
          <p:nvPr/>
        </p:nvSpPr>
        <p:spPr>
          <a:xfrm>
            <a:off x="5301262" y="6694445"/>
            <a:ext cx="2370352" cy="971059"/>
          </a:xfrm>
          <a:prstGeom prst="rect">
            <a:avLst/>
          </a:prstGeom>
        </p:spPr>
        <p:txBody>
          <a:bodyPr lIns="0" tIns="0" rIns="0" bIns="0" rtlCol="0" anchor="t">
            <a:spAutoFit/>
          </a:bodyPr>
          <a:lstStyle/>
          <a:p>
            <a:pPr marL="0" lvl="0" indent="0" algn="ctr">
              <a:lnSpc>
                <a:spcPts val="7902"/>
              </a:lnSpc>
              <a:spcBef>
                <a:spcPct val="0"/>
              </a:spcBef>
            </a:pPr>
            <a:r>
              <a:rPr lang="en-US" sz="5644" u="none" strike="noStrike">
                <a:solidFill>
                  <a:srgbClr val="FDFDFD"/>
                </a:solidFill>
                <a:latin typeface="Montserrat"/>
                <a:ea typeface="Montserrat"/>
                <a:cs typeface="Montserrat"/>
                <a:sym typeface="Montserrat"/>
              </a:rPr>
              <a:t>75%</a:t>
            </a:r>
          </a:p>
        </p:txBody>
      </p:sp>
      <p:sp>
        <p:nvSpPr>
          <p:cNvPr id="18" name="TextBox 18"/>
          <p:cNvSpPr txBox="1"/>
          <p:nvPr/>
        </p:nvSpPr>
        <p:spPr>
          <a:xfrm>
            <a:off x="828588" y="-838876"/>
            <a:ext cx="11315700" cy="10328541"/>
          </a:xfrm>
          <a:prstGeom prst="rect">
            <a:avLst/>
          </a:prstGeom>
        </p:spPr>
        <p:txBody>
          <a:bodyPr lIns="50800" tIns="50800" rIns="50800" bIns="50800" rtlCol="0" anchor="ctr"/>
          <a:lstStyle/>
          <a:p>
            <a:pPr marL="0" lvl="0" indent="0" algn="ctr">
              <a:lnSpc>
                <a:spcPts val="2659"/>
              </a:lnSpc>
              <a:spcBef>
                <a:spcPct val="0"/>
              </a:spcBef>
            </a:pPr>
            <a:endParaRPr/>
          </a:p>
        </p:txBody>
      </p:sp>
      <p:grpSp>
        <p:nvGrpSpPr>
          <p:cNvPr id="19" name="Group 19"/>
          <p:cNvGrpSpPr/>
          <p:nvPr/>
        </p:nvGrpSpPr>
        <p:grpSpPr>
          <a:xfrm>
            <a:off x="15238003" y="8290589"/>
            <a:ext cx="7523780" cy="752378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IN"/>
            </a:p>
          </p:txBody>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a:off x="-3724222" y="-4507687"/>
            <a:ext cx="5924489" cy="592448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IN"/>
            </a:p>
          </p:txBody>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36">
            <a:extLst>
              <a:ext uri="{FF2B5EF4-FFF2-40B4-BE49-F238E27FC236}">
                <a16:creationId xmlns:a16="http://schemas.microsoft.com/office/drawing/2014/main" id="{BCC066A5-ECEA-0C18-1A05-B89DAA46C17B}"/>
              </a:ext>
            </a:extLst>
          </p:cNvPr>
          <p:cNvGrpSpPr/>
          <p:nvPr/>
        </p:nvGrpSpPr>
        <p:grpSpPr>
          <a:xfrm>
            <a:off x="136936" y="2213790"/>
            <a:ext cx="12699004" cy="7094434"/>
            <a:chOff x="0" y="0"/>
            <a:chExt cx="6110362" cy="493651"/>
          </a:xfrm>
        </p:grpSpPr>
        <p:sp>
          <p:nvSpPr>
            <p:cNvPr id="27" name="Freeform 37">
              <a:extLst>
                <a:ext uri="{FF2B5EF4-FFF2-40B4-BE49-F238E27FC236}">
                  <a16:creationId xmlns:a16="http://schemas.microsoft.com/office/drawing/2014/main" id="{69E68359-0FE4-D6E2-E29D-996C19ED8580}"/>
                </a:ext>
              </a:extLst>
            </p:cNvPr>
            <p:cNvSpPr/>
            <p:nvPr/>
          </p:nvSpPr>
          <p:spPr>
            <a:xfrm>
              <a:off x="0" y="0"/>
              <a:ext cx="6110362" cy="493651"/>
            </a:xfrm>
            <a:custGeom>
              <a:avLst/>
              <a:gdLst/>
              <a:ahLst/>
              <a:cxnLst/>
              <a:rect l="l" t="t" r="r" b="b"/>
              <a:pathLst>
                <a:path w="6110362" h="493651">
                  <a:moveTo>
                    <a:pt x="0" y="0"/>
                  </a:moveTo>
                  <a:lnTo>
                    <a:pt x="6110362" y="0"/>
                  </a:lnTo>
                  <a:lnTo>
                    <a:pt x="6110362" y="493651"/>
                  </a:lnTo>
                  <a:lnTo>
                    <a:pt x="0" y="493651"/>
                  </a:lnTo>
                  <a:close/>
                </a:path>
              </a:pathLst>
            </a:custGeom>
            <a:solidFill>
              <a:srgbClr val="145DA0"/>
            </a:solidFill>
            <a:ln cap="sq">
              <a:noFill/>
              <a:prstDash val="solid"/>
              <a:miter/>
            </a:ln>
          </p:spPr>
          <p:txBody>
            <a:bodyPr/>
            <a:lstStyle/>
            <a:p>
              <a:endParaRPr lang="en-IN"/>
            </a:p>
          </p:txBody>
        </p:sp>
        <p:sp>
          <p:nvSpPr>
            <p:cNvPr id="28" name="TextBox 38">
              <a:extLst>
                <a:ext uri="{FF2B5EF4-FFF2-40B4-BE49-F238E27FC236}">
                  <a16:creationId xmlns:a16="http://schemas.microsoft.com/office/drawing/2014/main" id="{F6B5BEC1-92DC-79FD-FE2E-CCB8F248CCB9}"/>
                </a:ext>
              </a:extLst>
            </p:cNvPr>
            <p:cNvSpPr txBox="1"/>
            <p:nvPr/>
          </p:nvSpPr>
          <p:spPr>
            <a:xfrm>
              <a:off x="0" y="-38100"/>
              <a:ext cx="6110362" cy="53175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8">
            <a:extLst>
              <a:ext uri="{FF2B5EF4-FFF2-40B4-BE49-F238E27FC236}">
                <a16:creationId xmlns:a16="http://schemas.microsoft.com/office/drawing/2014/main" id="{E097C366-A3DE-53B4-5F91-D3EC5C46D62F}"/>
              </a:ext>
            </a:extLst>
          </p:cNvPr>
          <p:cNvSpPr txBox="1"/>
          <p:nvPr/>
        </p:nvSpPr>
        <p:spPr>
          <a:xfrm>
            <a:off x="307860" y="2922775"/>
            <a:ext cx="12525462" cy="6740307"/>
          </a:xfrm>
          <a:prstGeom prst="rect">
            <a:avLst/>
          </a:prstGeom>
          <a:noFill/>
        </p:spPr>
        <p:txBody>
          <a:bodyPr wrap="square" rtlCol="0">
            <a:spAutoFit/>
          </a:bodyPr>
          <a:lstStyle/>
          <a:p>
            <a:pPr algn="just"/>
            <a:r>
              <a:rPr lang="en-US" sz="5400" spc="-57" dirty="0">
                <a:solidFill>
                  <a:schemeClr val="bg1"/>
                </a:solidFill>
                <a:latin typeface="Berlin Sans FB" panose="020E0602020502020306" pitchFamily="34" charset="0"/>
                <a:cs typeface="Poppins"/>
              </a:rPr>
              <a:t>The Agent demonstrates autonomous decision-making by perceiving, reasoning, and acting on data. It learns patterns from experience to improve its accuracy over time. Overall, it highlights how intelligent systems can solve complex tasks efficiently and reliably</a:t>
            </a:r>
            <a:endParaRPr lang="en-IN" sz="5400" spc="-57" dirty="0">
              <a:solidFill>
                <a:schemeClr val="bg1"/>
              </a:solidFill>
              <a:latin typeface="Berlin Sans FB" panose="020E0602020502020306" pitchFamily="34" charset="0"/>
              <a:cs typeface="Poppins"/>
            </a:endParaRPr>
          </a:p>
          <a:p>
            <a:pPr algn="just"/>
            <a:endParaRPr lang="en-IN" sz="5400" spc="-57" dirty="0">
              <a:solidFill>
                <a:schemeClr val="bg1"/>
              </a:solidFill>
              <a:latin typeface="Berlin Sans FB" panose="020E0602020502020306" pitchFamily="34" charset="0"/>
              <a:cs typeface="Poppins"/>
            </a:endParaRPr>
          </a:p>
        </p:txBody>
      </p:sp>
      <p:sp>
        <p:nvSpPr>
          <p:cNvPr id="30" name="TextBox 29">
            <a:extLst>
              <a:ext uri="{FF2B5EF4-FFF2-40B4-BE49-F238E27FC236}">
                <a16:creationId xmlns:a16="http://schemas.microsoft.com/office/drawing/2014/main" id="{272BCAD1-AE8B-6870-E8DD-A49938313ADE}"/>
              </a:ext>
            </a:extLst>
          </p:cNvPr>
          <p:cNvSpPr txBox="1"/>
          <p:nvPr/>
        </p:nvSpPr>
        <p:spPr>
          <a:xfrm>
            <a:off x="1225645" y="160268"/>
            <a:ext cx="9944021" cy="1862048"/>
          </a:xfrm>
          <a:prstGeom prst="rect">
            <a:avLst/>
          </a:prstGeom>
          <a:noFill/>
        </p:spPr>
        <p:txBody>
          <a:bodyPr wrap="square" rtlCol="0">
            <a:spAutoFit/>
          </a:bodyPr>
          <a:lstStyle/>
          <a:p>
            <a:r>
              <a:rPr lang="en-US" sz="11500" dirty="0">
                <a:solidFill>
                  <a:schemeClr val="accent1"/>
                </a:solidFill>
                <a:latin typeface="Berlin Sans FB Demi" panose="020E0802020502020306" pitchFamily="34" charset="0"/>
              </a:rPr>
              <a:t>Conclusion</a:t>
            </a:r>
            <a:endParaRPr lang="en-IN" sz="11500" dirty="0">
              <a:solidFill>
                <a:schemeClr val="accent1"/>
              </a:solidFill>
              <a:latin typeface="Berlin Sans FB Demi" panose="020E0802020502020306" pitchFamily="34" charset="0"/>
            </a:endParaRPr>
          </a:p>
        </p:txBody>
      </p:sp>
      <p:grpSp>
        <p:nvGrpSpPr>
          <p:cNvPr id="31" name="Group 19">
            <a:extLst>
              <a:ext uri="{FF2B5EF4-FFF2-40B4-BE49-F238E27FC236}">
                <a16:creationId xmlns:a16="http://schemas.microsoft.com/office/drawing/2014/main" id="{E081C2C6-05A3-AFC1-6F4F-806B54A8186D}"/>
              </a:ext>
            </a:extLst>
          </p:cNvPr>
          <p:cNvGrpSpPr/>
          <p:nvPr/>
        </p:nvGrpSpPr>
        <p:grpSpPr>
          <a:xfrm>
            <a:off x="13179503" y="3026100"/>
            <a:ext cx="4798019" cy="5110729"/>
            <a:chOff x="0" y="0"/>
            <a:chExt cx="812800" cy="812800"/>
          </a:xfrm>
        </p:grpSpPr>
        <p:sp>
          <p:nvSpPr>
            <p:cNvPr id="32" name="Freeform 20">
              <a:extLst>
                <a:ext uri="{FF2B5EF4-FFF2-40B4-BE49-F238E27FC236}">
                  <a16:creationId xmlns:a16="http://schemas.microsoft.com/office/drawing/2014/main" id="{0831E70C-8AA7-B778-31EF-E0FC8BE9E9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txBody>
            <a:bodyPr/>
            <a:lstStyle/>
            <a:p>
              <a:endParaRPr lang="en-IN"/>
            </a:p>
          </p:txBody>
        </p:sp>
        <p:sp>
          <p:nvSpPr>
            <p:cNvPr id="33" name="TextBox 21">
              <a:extLst>
                <a:ext uri="{FF2B5EF4-FFF2-40B4-BE49-F238E27FC236}">
                  <a16:creationId xmlns:a16="http://schemas.microsoft.com/office/drawing/2014/main" id="{8ECC71BA-CD88-D204-56AF-EA73E69FD59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pic>
        <p:nvPicPr>
          <p:cNvPr id="34" name="Picture 4" descr="இதில் இருக்கலாம்: செல்போனின் மேல் அமர்ந்திருக்கும் ஒரு ரோபோ">
            <a:extLst>
              <a:ext uri="{FF2B5EF4-FFF2-40B4-BE49-F238E27FC236}">
                <a16:creationId xmlns:a16="http://schemas.microsoft.com/office/drawing/2014/main" id="{E42D5C07-EB52-9F8B-54B2-EC9F1952D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65063" y="3265665"/>
            <a:ext cx="4626898" cy="462689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transition spd="slow">
    <p:comb/>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15" name="Group 15"/>
          <p:cNvGrpSpPr/>
          <p:nvPr/>
        </p:nvGrpSpPr>
        <p:grpSpPr>
          <a:xfrm>
            <a:off x="12398912" y="0"/>
            <a:ext cx="5889088" cy="756959"/>
            <a:chOff x="0" y="0"/>
            <a:chExt cx="1551036" cy="199364"/>
          </a:xfrm>
        </p:grpSpPr>
        <p:sp>
          <p:nvSpPr>
            <p:cNvPr id="16" name="Freeform 16"/>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IN"/>
            </a:p>
          </p:txBody>
        </p:sp>
        <p:sp>
          <p:nvSpPr>
            <p:cNvPr id="17" name="TextBox 17"/>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2398912" y="9530041"/>
            <a:ext cx="5889088" cy="756959"/>
            <a:chOff x="0" y="0"/>
            <a:chExt cx="1551036" cy="199364"/>
          </a:xfrm>
        </p:grpSpPr>
        <p:sp>
          <p:nvSpPr>
            <p:cNvPr id="19" name="Freeform 19"/>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IN"/>
            </a:p>
          </p:txBody>
        </p:sp>
        <p:sp>
          <p:nvSpPr>
            <p:cNvPr id="20" name="TextBox 20"/>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pic>
        <p:nvPicPr>
          <p:cNvPr id="1028" name="Picture 4" descr="This may contain: the word thank you written in cursive writing with a heart on top of it">
            <a:extLst>
              <a:ext uri="{FF2B5EF4-FFF2-40B4-BE49-F238E27FC236}">
                <a16:creationId xmlns:a16="http://schemas.microsoft.com/office/drawing/2014/main" id="{58DF90A1-6958-C21C-BE61-0755486395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28" t="29738" r="5888" b="24169"/>
          <a:stretch>
            <a:fillRect/>
          </a:stretch>
        </p:blipFill>
        <p:spPr bwMode="auto">
          <a:xfrm>
            <a:off x="838200" y="3609788"/>
            <a:ext cx="11178207" cy="2995216"/>
          </a:xfrm>
          <a:prstGeom prst="rect">
            <a:avLst/>
          </a:prstGeom>
          <a:noFill/>
          <a:extLst>
            <a:ext uri="{909E8E84-426E-40DD-AFC4-6F175D3DCCD1}">
              <a14:hiddenFill xmlns:a14="http://schemas.microsoft.com/office/drawing/2010/main">
                <a:solidFill>
                  <a:srgbClr val="FFFFFF"/>
                </a:solidFill>
              </a14:hiddenFill>
            </a:ext>
          </a:extLst>
        </p:spPr>
      </p:pic>
      <p:sp>
        <p:nvSpPr>
          <p:cNvPr id="26" name="Freeform 21"/>
          <p:cNvSpPr/>
          <p:nvPr/>
        </p:nvSpPr>
        <p:spPr>
          <a:xfrm>
            <a:off x="-4925441" y="3609788"/>
            <a:ext cx="9392643" cy="9529477"/>
          </a:xfrm>
          <a:custGeom>
            <a:avLst/>
            <a:gdLst/>
            <a:ahLst/>
            <a:cxnLst/>
            <a:rect l="l" t="t" r="r" b="b"/>
            <a:pathLst>
              <a:path w="9392643" h="9529477">
                <a:moveTo>
                  <a:pt x="0" y="0"/>
                </a:moveTo>
                <a:lnTo>
                  <a:pt x="9392643" y="0"/>
                </a:lnTo>
                <a:lnTo>
                  <a:pt x="9392643" y="9529476"/>
                </a:lnTo>
                <a:lnTo>
                  <a:pt x="0" y="9529476"/>
                </a:lnTo>
                <a:lnTo>
                  <a:pt x="0" y="0"/>
                </a:lnTo>
                <a:close/>
              </a:path>
            </a:pathLst>
          </a:custGeom>
          <a:blipFill>
            <a:blip r:embed="rId3">
              <a:alphaModFix amt="20999"/>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1034" name="Picture 10" descr="Story pin image">
            <a:extLst>
              <a:ext uri="{FF2B5EF4-FFF2-40B4-BE49-F238E27FC236}">
                <a16:creationId xmlns:a16="http://schemas.microsoft.com/office/drawing/2014/main" id="{C10EE8E1-0670-74B6-589F-8CC5711ED2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5599" y="756959"/>
            <a:ext cx="7772401" cy="87730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1121</TotalTime>
  <Words>520</Words>
  <Application>Microsoft Office PowerPoint</Application>
  <PresentationFormat>Custom</PresentationFormat>
  <Paragraphs>68</Paragraphs>
  <Slides>10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Poppins</vt:lpstr>
      <vt:lpstr>Montserrat Bold</vt:lpstr>
      <vt:lpstr>Poppins Bold</vt:lpstr>
      <vt:lpstr>Montserrat</vt:lpstr>
      <vt:lpstr>Berlin Sans FB</vt:lpstr>
      <vt:lpstr>Arial</vt:lpstr>
      <vt:lpstr>Aptos</vt:lpstr>
      <vt:lpstr>Berlin Sans FB Demi</vt:lpstr>
      <vt:lpstr>Calibri</vt:lpstr>
      <vt:lpstr>Pin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dc:creator>Banupriya Mehavannan</dc:creator>
  <cp:lastModifiedBy>S0167852</cp:lastModifiedBy>
  <cp:revision>6</cp:revision>
  <dcterms:created xsi:type="dcterms:W3CDTF">2006-08-16T00:00:00Z</dcterms:created>
  <dcterms:modified xsi:type="dcterms:W3CDTF">2026-03-03T02:15:47Z</dcterms:modified>
  <dc:identifier>DAHCf3JEOW4</dc:identifier>
</cp:coreProperties>
</file>