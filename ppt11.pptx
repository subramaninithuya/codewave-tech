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66" r:id="rId5"/>
    <p:sldId id="267" r:id="rId6"/>
    <p:sldId id="261" r:id="rId7"/>
    <p:sldId id="259" r:id="rId8"/>
    <p:sldId id="269" r:id="rId9"/>
    <p:sldId id="270" r:id="rId10"/>
    <p:sldId id="271" r:id="rId11"/>
    <p:sldId id="264" r:id="rId12"/>
    <p:sldId id="265" r:id="rId13"/>
  </p:sldIdLst>
  <p:sldSz cx="18288000" cy="10287000"/>
  <p:notesSz cx="6858000" cy="9144000"/>
  <p:embeddedFontLst>
    <p:embeddedFont>
      <p:font typeface="Calibri" panose="020F0502020204030204" pitchFamily="34" charset="0"/>
      <p:regular r:id="rId14"/>
      <p:bold r:id="rId15"/>
      <p:italic r:id="rId16"/>
      <p:boldItalic r:id="rId17"/>
    </p:embeddedFont>
    <p:embeddedFont>
      <p:font typeface="Poppins" panose="020B0604020202020204" charset="0"/>
      <p:regular r:id="rId18"/>
    </p:embeddedFont>
    <p:embeddedFont>
      <p:font typeface="Poppins Bold" panose="020B0604020202020204" charset="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6" d="100"/>
          <a:sy n="56" d="100"/>
        </p:scale>
        <p:origin x="610" y="4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2/19/2026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2/19/2026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2/19/2026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4.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5.jpeg"/><Relationship Id="rId4" Type="http://schemas.openxmlformats.org/officeDocument/2006/relationships/image" Target="../media/image6.sv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9.jpe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6.sv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10.jpeg"/><Relationship Id="rId4" Type="http://schemas.openxmlformats.org/officeDocument/2006/relationships/image" Target="../media/image6.sv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11.jpeg"/><Relationship Id="rId4" Type="http://schemas.openxmlformats.org/officeDocument/2006/relationships/image" Target="../media/image6.sv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12.jpeg"/><Relationship Id="rId4" Type="http://schemas.openxmlformats.org/officeDocument/2006/relationships/image" Target="../media/image6.sv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13.jpeg"/><Relationship Id="rId4" Type="http://schemas.openxmlformats.org/officeDocument/2006/relationships/image" Target="../media/image6.sv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4.jpe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6.sv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4.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8518" b="-68518"/>
            </a:stretch>
          </a:blipFill>
        </p:spPr>
      </p:sp>
      <p:grpSp>
        <p:nvGrpSpPr>
          <p:cNvPr id="3" name="Group 3"/>
          <p:cNvGrpSpPr/>
          <p:nvPr/>
        </p:nvGrpSpPr>
        <p:grpSpPr>
          <a:xfrm>
            <a:off x="11304390" y="7950623"/>
            <a:ext cx="6807610" cy="1813881"/>
            <a:chOff x="0" y="0"/>
            <a:chExt cx="2613134" cy="641035"/>
          </a:xfrm>
        </p:grpSpPr>
        <p:sp>
          <p:nvSpPr>
            <p:cNvPr id="4" name="Freeform 4"/>
            <p:cNvSpPr/>
            <p:nvPr/>
          </p:nvSpPr>
          <p:spPr>
            <a:xfrm>
              <a:off x="0" y="0"/>
              <a:ext cx="2613134" cy="641035"/>
            </a:xfrm>
            <a:custGeom>
              <a:avLst/>
              <a:gdLst/>
              <a:ahLst/>
              <a:cxnLst/>
              <a:rect l="l" t="t" r="r" b="b"/>
              <a:pathLst>
                <a:path w="2613134" h="641035">
                  <a:moveTo>
                    <a:pt x="23409" y="0"/>
                  </a:moveTo>
                  <a:lnTo>
                    <a:pt x="2589725" y="0"/>
                  </a:lnTo>
                  <a:cubicBezTo>
                    <a:pt x="2595933" y="0"/>
                    <a:pt x="2601888" y="2466"/>
                    <a:pt x="2606278" y="6856"/>
                  </a:cubicBezTo>
                  <a:cubicBezTo>
                    <a:pt x="2610668" y="11246"/>
                    <a:pt x="2613134" y="17201"/>
                    <a:pt x="2613134" y="23409"/>
                  </a:cubicBezTo>
                  <a:lnTo>
                    <a:pt x="2613134" y="617626"/>
                  </a:lnTo>
                  <a:cubicBezTo>
                    <a:pt x="2613134" y="630554"/>
                    <a:pt x="2602653" y="641035"/>
                    <a:pt x="2589725" y="641035"/>
                  </a:cubicBezTo>
                  <a:lnTo>
                    <a:pt x="23409" y="641035"/>
                  </a:lnTo>
                  <a:cubicBezTo>
                    <a:pt x="17201" y="641035"/>
                    <a:pt x="11246" y="638569"/>
                    <a:pt x="6856" y="634179"/>
                  </a:cubicBezTo>
                  <a:cubicBezTo>
                    <a:pt x="2466" y="629788"/>
                    <a:pt x="0" y="623834"/>
                    <a:pt x="0" y="617626"/>
                  </a:cubicBezTo>
                  <a:lnTo>
                    <a:pt x="0" y="23409"/>
                  </a:lnTo>
                  <a:cubicBezTo>
                    <a:pt x="0" y="17201"/>
                    <a:pt x="2466" y="11246"/>
                    <a:pt x="6856" y="6856"/>
                  </a:cubicBezTo>
                  <a:cubicBezTo>
                    <a:pt x="11246" y="2466"/>
                    <a:pt x="17201" y="0"/>
                    <a:pt x="23409" y="0"/>
                  </a:cubicBezTo>
                  <a:close/>
                </a:path>
              </a:pathLst>
            </a:custGeom>
            <a:solidFill>
              <a:srgbClr val="FFFFFF"/>
            </a:solidFill>
          </p:spPr>
        </p:sp>
        <p:sp>
          <p:nvSpPr>
            <p:cNvPr id="5" name="TextBox 5"/>
            <p:cNvSpPr txBox="1"/>
            <p:nvPr/>
          </p:nvSpPr>
          <p:spPr>
            <a:xfrm>
              <a:off x="0" y="-76200"/>
              <a:ext cx="2613134" cy="717235"/>
            </a:xfrm>
            <a:prstGeom prst="rect">
              <a:avLst/>
            </a:prstGeom>
          </p:spPr>
          <p:txBody>
            <a:bodyPr lIns="50800" tIns="50800" rIns="50800" bIns="50800" rtlCol="0" anchor="ctr"/>
            <a:lstStyle/>
            <a:p>
              <a:pPr algn="ctr">
                <a:lnSpc>
                  <a:spcPts val="3500"/>
                </a:lnSpc>
              </a:pPr>
              <a:endParaRPr/>
            </a:p>
          </p:txBody>
        </p:sp>
      </p:grpSp>
      <p:grpSp>
        <p:nvGrpSpPr>
          <p:cNvPr id="6" name="Group 6"/>
          <p:cNvGrpSpPr/>
          <p:nvPr/>
        </p:nvGrpSpPr>
        <p:grpSpPr>
          <a:xfrm>
            <a:off x="11304390" y="2386055"/>
            <a:ext cx="6807611" cy="5246370"/>
            <a:chOff x="0" y="0"/>
            <a:chExt cx="1054677" cy="812800"/>
          </a:xfrm>
        </p:grpSpPr>
        <p:sp>
          <p:nvSpPr>
            <p:cNvPr id="7" name="Freeform 7"/>
            <p:cNvSpPr/>
            <p:nvPr/>
          </p:nvSpPr>
          <p:spPr>
            <a:xfrm>
              <a:off x="0" y="0"/>
              <a:ext cx="1054677" cy="812800"/>
            </a:xfrm>
            <a:custGeom>
              <a:avLst/>
              <a:gdLst/>
              <a:ahLst/>
              <a:cxnLst/>
              <a:rect l="l" t="t" r="r" b="b"/>
              <a:pathLst>
                <a:path w="1054677" h="812800">
                  <a:moveTo>
                    <a:pt x="45490" y="0"/>
                  </a:moveTo>
                  <a:lnTo>
                    <a:pt x="1009187" y="0"/>
                  </a:lnTo>
                  <a:cubicBezTo>
                    <a:pt x="1021252" y="0"/>
                    <a:pt x="1032822" y="4793"/>
                    <a:pt x="1041353" y="13324"/>
                  </a:cubicBezTo>
                  <a:cubicBezTo>
                    <a:pt x="1049884" y="21855"/>
                    <a:pt x="1054677" y="33425"/>
                    <a:pt x="1054677" y="45490"/>
                  </a:cubicBezTo>
                  <a:lnTo>
                    <a:pt x="1054677" y="767310"/>
                  </a:lnTo>
                  <a:cubicBezTo>
                    <a:pt x="1054677" y="779375"/>
                    <a:pt x="1049884" y="790945"/>
                    <a:pt x="1041353" y="799476"/>
                  </a:cubicBezTo>
                  <a:cubicBezTo>
                    <a:pt x="1032822" y="808007"/>
                    <a:pt x="1021252" y="812800"/>
                    <a:pt x="1009187" y="812800"/>
                  </a:cubicBezTo>
                  <a:lnTo>
                    <a:pt x="45490" y="812800"/>
                  </a:lnTo>
                  <a:cubicBezTo>
                    <a:pt x="33425" y="812800"/>
                    <a:pt x="21855" y="808007"/>
                    <a:pt x="13324" y="799476"/>
                  </a:cubicBezTo>
                  <a:cubicBezTo>
                    <a:pt x="4793" y="790945"/>
                    <a:pt x="0" y="779375"/>
                    <a:pt x="0" y="767310"/>
                  </a:cubicBezTo>
                  <a:lnTo>
                    <a:pt x="0" y="45490"/>
                  </a:lnTo>
                  <a:cubicBezTo>
                    <a:pt x="0" y="33425"/>
                    <a:pt x="4793" y="21855"/>
                    <a:pt x="13324" y="13324"/>
                  </a:cubicBezTo>
                  <a:cubicBezTo>
                    <a:pt x="21855" y="4793"/>
                    <a:pt x="33425" y="0"/>
                    <a:pt x="45490" y="0"/>
                  </a:cubicBezTo>
                  <a:close/>
                </a:path>
              </a:pathLst>
            </a:custGeom>
            <a:blipFill>
              <a:blip r:embed="rId3"/>
              <a:stretch>
                <a:fillRect l="-633" r="-15812"/>
              </a:stretch>
            </a:blipFill>
          </p:spPr>
        </p:sp>
      </p:grpSp>
      <p:grpSp>
        <p:nvGrpSpPr>
          <p:cNvPr id="8" name="Group 8"/>
          <p:cNvGrpSpPr/>
          <p:nvPr/>
        </p:nvGrpSpPr>
        <p:grpSpPr>
          <a:xfrm>
            <a:off x="1028700" y="1028700"/>
            <a:ext cx="312742" cy="812932"/>
            <a:chOff x="0" y="0"/>
            <a:chExt cx="82368" cy="214106"/>
          </a:xfrm>
        </p:grpSpPr>
        <p:sp>
          <p:nvSpPr>
            <p:cNvPr id="9" name="Freeform 9"/>
            <p:cNvSpPr/>
            <p:nvPr/>
          </p:nvSpPr>
          <p:spPr>
            <a:xfrm>
              <a:off x="0" y="0"/>
              <a:ext cx="82368" cy="214106"/>
            </a:xfrm>
            <a:custGeom>
              <a:avLst/>
              <a:gdLst/>
              <a:ahLst/>
              <a:cxnLst/>
              <a:rect l="l" t="t" r="r" b="b"/>
              <a:pathLst>
                <a:path w="82368" h="214106">
                  <a:moveTo>
                    <a:pt x="41184" y="0"/>
                  </a:moveTo>
                  <a:lnTo>
                    <a:pt x="41184" y="0"/>
                  </a:lnTo>
                  <a:cubicBezTo>
                    <a:pt x="52107" y="0"/>
                    <a:pt x="62582" y="4339"/>
                    <a:pt x="70306" y="12063"/>
                  </a:cubicBezTo>
                  <a:cubicBezTo>
                    <a:pt x="78029" y="19786"/>
                    <a:pt x="82368" y="30261"/>
                    <a:pt x="82368" y="41184"/>
                  </a:cubicBezTo>
                  <a:lnTo>
                    <a:pt x="82368" y="172921"/>
                  </a:lnTo>
                  <a:cubicBezTo>
                    <a:pt x="82368" y="183844"/>
                    <a:pt x="78029" y="194319"/>
                    <a:pt x="70306" y="202043"/>
                  </a:cubicBezTo>
                  <a:cubicBezTo>
                    <a:pt x="62582" y="209766"/>
                    <a:pt x="52107" y="214106"/>
                    <a:pt x="41184" y="214106"/>
                  </a:cubicBezTo>
                  <a:lnTo>
                    <a:pt x="41184" y="214106"/>
                  </a:lnTo>
                  <a:cubicBezTo>
                    <a:pt x="30261" y="214106"/>
                    <a:pt x="19786" y="209766"/>
                    <a:pt x="12063" y="202043"/>
                  </a:cubicBezTo>
                  <a:cubicBezTo>
                    <a:pt x="4339" y="194319"/>
                    <a:pt x="0" y="183844"/>
                    <a:pt x="0" y="172921"/>
                  </a:cubicBezTo>
                  <a:lnTo>
                    <a:pt x="0" y="41184"/>
                  </a:lnTo>
                  <a:cubicBezTo>
                    <a:pt x="0" y="30261"/>
                    <a:pt x="4339" y="19786"/>
                    <a:pt x="12063" y="12063"/>
                  </a:cubicBezTo>
                  <a:cubicBezTo>
                    <a:pt x="19786" y="4339"/>
                    <a:pt x="30261" y="0"/>
                    <a:pt x="41184" y="0"/>
                  </a:cubicBezTo>
                  <a:close/>
                </a:path>
              </a:pathLst>
            </a:custGeom>
            <a:solidFill>
              <a:srgbClr val="FFFFFF"/>
            </a:solidFill>
          </p:spPr>
        </p:sp>
        <p:sp>
          <p:nvSpPr>
            <p:cNvPr id="10" name="TextBox 10"/>
            <p:cNvSpPr txBox="1"/>
            <p:nvPr/>
          </p:nvSpPr>
          <p:spPr>
            <a:xfrm>
              <a:off x="0" y="-76200"/>
              <a:ext cx="82368" cy="290306"/>
            </a:xfrm>
            <a:prstGeom prst="rect">
              <a:avLst/>
            </a:prstGeom>
          </p:spPr>
          <p:txBody>
            <a:bodyPr lIns="50800" tIns="50800" rIns="50800" bIns="50800" rtlCol="0" anchor="ctr"/>
            <a:lstStyle/>
            <a:p>
              <a:pPr algn="ctr">
                <a:lnSpc>
                  <a:spcPts val="3500"/>
                </a:lnSpc>
              </a:pPr>
              <a:endParaRPr/>
            </a:p>
          </p:txBody>
        </p:sp>
      </p:grpSp>
      <p:sp>
        <p:nvSpPr>
          <p:cNvPr id="11" name="Freeform 11"/>
          <p:cNvSpPr/>
          <p:nvPr/>
        </p:nvSpPr>
        <p:spPr>
          <a:xfrm>
            <a:off x="5758179" y="-1726984"/>
            <a:ext cx="3568616" cy="3568616"/>
          </a:xfrm>
          <a:custGeom>
            <a:avLst/>
            <a:gdLst/>
            <a:ahLst/>
            <a:cxnLst/>
            <a:rect l="l" t="t" r="r" b="b"/>
            <a:pathLst>
              <a:path w="3568616" h="3568616">
                <a:moveTo>
                  <a:pt x="0" y="0"/>
                </a:moveTo>
                <a:lnTo>
                  <a:pt x="3568616" y="0"/>
                </a:lnTo>
                <a:lnTo>
                  <a:pt x="3568616" y="3568616"/>
                </a:lnTo>
                <a:lnTo>
                  <a:pt x="0" y="3568616"/>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13" name="TextBox 13"/>
          <p:cNvSpPr txBox="1"/>
          <p:nvPr/>
        </p:nvSpPr>
        <p:spPr>
          <a:xfrm>
            <a:off x="1091158" y="2727816"/>
            <a:ext cx="9921743" cy="4308872"/>
          </a:xfrm>
          <a:prstGeom prst="rect">
            <a:avLst/>
          </a:prstGeom>
        </p:spPr>
        <p:txBody>
          <a:bodyPr lIns="0" tIns="0" rIns="0" bIns="0" rtlCol="0" anchor="t">
            <a:spAutoFit/>
          </a:bodyPr>
          <a:lstStyle/>
          <a:p>
            <a:pPr algn="l">
              <a:lnSpc>
                <a:spcPts val="11200"/>
              </a:lnSpc>
              <a:spcBef>
                <a:spcPct val="0"/>
              </a:spcBef>
            </a:pPr>
            <a:r>
              <a:rPr lang="en-US" sz="8000" b="1" dirty="0" smtClean="0">
                <a:solidFill>
                  <a:srgbClr val="FFFFFF"/>
                </a:solidFill>
                <a:latin typeface="Poppins Bold"/>
                <a:ea typeface="Poppins Bold"/>
                <a:cs typeface="Poppins Bold"/>
                <a:sym typeface="Poppins Bold"/>
              </a:rPr>
              <a:t>WOMEN ENTEREPRENURS IN THE DIGITAL ERA</a:t>
            </a:r>
            <a:endParaRPr lang="en-US" sz="8000" b="1" dirty="0">
              <a:solidFill>
                <a:srgbClr val="FFFFFF"/>
              </a:solidFill>
              <a:latin typeface="Poppins Bold"/>
              <a:ea typeface="Poppins Bold"/>
              <a:cs typeface="Poppins Bold"/>
              <a:sym typeface="Poppins Bold"/>
            </a:endParaRPr>
          </a:p>
        </p:txBody>
      </p:sp>
      <p:sp>
        <p:nvSpPr>
          <p:cNvPr id="15" name="TextBox 15"/>
          <p:cNvSpPr txBox="1"/>
          <p:nvPr/>
        </p:nvSpPr>
        <p:spPr>
          <a:xfrm>
            <a:off x="15178707" y="952500"/>
            <a:ext cx="2080593" cy="450916"/>
          </a:xfrm>
          <a:prstGeom prst="rect">
            <a:avLst/>
          </a:prstGeom>
        </p:spPr>
        <p:txBody>
          <a:bodyPr lIns="0" tIns="0" rIns="0" bIns="0" rtlCol="0" anchor="t">
            <a:spAutoFit/>
          </a:bodyPr>
          <a:lstStyle/>
          <a:p>
            <a:pPr algn="r">
              <a:lnSpc>
                <a:spcPts val="3500"/>
              </a:lnSpc>
              <a:spcBef>
                <a:spcPct val="0"/>
              </a:spcBef>
            </a:pPr>
            <a:r>
              <a:rPr lang="en-US" sz="2500" dirty="0" smtClean="0">
                <a:solidFill>
                  <a:srgbClr val="FFFFFF"/>
                </a:solidFill>
                <a:latin typeface="Poppins"/>
                <a:ea typeface="Poppins"/>
                <a:cs typeface="Poppins"/>
                <a:sym typeface="Poppins"/>
              </a:rPr>
              <a:t>19 </a:t>
            </a:r>
            <a:r>
              <a:rPr lang="en-US" sz="2500" dirty="0">
                <a:solidFill>
                  <a:srgbClr val="FFFFFF"/>
                </a:solidFill>
                <a:latin typeface="Poppins"/>
                <a:ea typeface="Poppins"/>
                <a:cs typeface="Poppins"/>
                <a:sym typeface="Poppins"/>
              </a:rPr>
              <a:t>FEBRUARY</a:t>
            </a:r>
          </a:p>
        </p:txBody>
      </p:sp>
      <p:sp>
        <p:nvSpPr>
          <p:cNvPr id="18" name="TextBox 18"/>
          <p:cNvSpPr txBox="1"/>
          <p:nvPr/>
        </p:nvSpPr>
        <p:spPr>
          <a:xfrm>
            <a:off x="16376372" y="1390716"/>
            <a:ext cx="882928" cy="450916"/>
          </a:xfrm>
          <a:prstGeom prst="rect">
            <a:avLst/>
          </a:prstGeom>
        </p:spPr>
        <p:txBody>
          <a:bodyPr lIns="0" tIns="0" rIns="0" bIns="0" rtlCol="0" anchor="t">
            <a:spAutoFit/>
          </a:bodyPr>
          <a:lstStyle/>
          <a:p>
            <a:pPr algn="r">
              <a:lnSpc>
                <a:spcPts val="3500"/>
              </a:lnSpc>
              <a:spcBef>
                <a:spcPct val="0"/>
              </a:spcBef>
            </a:pPr>
            <a:r>
              <a:rPr lang="en-US" sz="2500" dirty="0">
                <a:solidFill>
                  <a:srgbClr val="FFFFFF"/>
                </a:solidFill>
                <a:latin typeface="Poppins"/>
                <a:ea typeface="Poppins"/>
                <a:cs typeface="Poppins"/>
                <a:sym typeface="Poppins"/>
              </a:rPr>
              <a:t>2026</a:t>
            </a:r>
          </a:p>
        </p:txBody>
      </p:sp>
      <p:sp>
        <p:nvSpPr>
          <p:cNvPr id="19" name="TextBox 19"/>
          <p:cNvSpPr txBox="1"/>
          <p:nvPr/>
        </p:nvSpPr>
        <p:spPr>
          <a:xfrm>
            <a:off x="11430000" y="7950623"/>
            <a:ext cx="8125858" cy="1885131"/>
          </a:xfrm>
          <a:prstGeom prst="rect">
            <a:avLst/>
          </a:prstGeom>
        </p:spPr>
        <p:txBody>
          <a:bodyPr wrap="square" lIns="0" tIns="0" rIns="0" bIns="0" rtlCol="0" anchor="t">
            <a:spAutoFit/>
          </a:bodyPr>
          <a:lstStyle/>
          <a:p>
            <a:pPr algn="l">
              <a:lnSpc>
                <a:spcPts val="4900"/>
              </a:lnSpc>
              <a:spcBef>
                <a:spcPct val="0"/>
              </a:spcBef>
            </a:pPr>
            <a:r>
              <a:rPr lang="en-US" sz="3500" b="1" spc="175" dirty="0" smtClean="0">
                <a:solidFill>
                  <a:srgbClr val="131D44"/>
                </a:solidFill>
                <a:latin typeface="Poppins"/>
                <a:ea typeface="Poppins"/>
                <a:cs typeface="Poppins"/>
                <a:sym typeface="Poppins"/>
              </a:rPr>
              <a:t>Presented By:</a:t>
            </a:r>
          </a:p>
          <a:p>
            <a:pPr algn="l">
              <a:lnSpc>
                <a:spcPts val="4900"/>
              </a:lnSpc>
              <a:spcBef>
                <a:spcPct val="0"/>
              </a:spcBef>
            </a:pPr>
            <a:r>
              <a:rPr lang="en-US" sz="3500" b="1" spc="175" dirty="0">
                <a:solidFill>
                  <a:srgbClr val="131D44"/>
                </a:solidFill>
                <a:latin typeface="Poppins"/>
                <a:ea typeface="Poppins"/>
                <a:cs typeface="Poppins"/>
                <a:sym typeface="Poppins"/>
              </a:rPr>
              <a:t> </a:t>
            </a:r>
            <a:r>
              <a:rPr lang="en-US" sz="3500" b="1" spc="175" dirty="0" smtClean="0">
                <a:solidFill>
                  <a:srgbClr val="131D44"/>
                </a:solidFill>
                <a:latin typeface="Poppins"/>
                <a:ea typeface="Poppins"/>
                <a:cs typeface="Poppins"/>
                <a:sym typeface="Poppins"/>
              </a:rPr>
              <a:t>                M. Swetha</a:t>
            </a:r>
          </a:p>
          <a:p>
            <a:pPr algn="l">
              <a:lnSpc>
                <a:spcPts val="4900"/>
              </a:lnSpc>
              <a:spcBef>
                <a:spcPct val="0"/>
              </a:spcBef>
            </a:pPr>
            <a:r>
              <a:rPr lang="en-US" sz="3500" b="1" spc="175" dirty="0">
                <a:solidFill>
                  <a:srgbClr val="131D44"/>
                </a:solidFill>
                <a:latin typeface="Poppins"/>
                <a:ea typeface="Poppins"/>
                <a:cs typeface="Poppins"/>
                <a:sym typeface="Poppins"/>
              </a:rPr>
              <a:t> </a:t>
            </a:r>
            <a:r>
              <a:rPr lang="en-US" sz="3500" b="1" spc="175" dirty="0" smtClean="0">
                <a:solidFill>
                  <a:srgbClr val="131D44"/>
                </a:solidFill>
                <a:latin typeface="Poppins"/>
                <a:ea typeface="Poppins"/>
                <a:cs typeface="Poppins"/>
                <a:sym typeface="Poppins"/>
              </a:rPr>
              <a:t>                S.  Nithyalakshmi</a:t>
            </a:r>
            <a:endParaRPr lang="en-US" sz="3500" b="1" spc="175" dirty="0">
              <a:solidFill>
                <a:srgbClr val="131D44"/>
              </a:solidFill>
              <a:latin typeface="Poppins"/>
              <a:ea typeface="Poppins"/>
              <a:cs typeface="Poppins"/>
              <a:sym typeface="Poppins"/>
            </a:endParaRPr>
          </a:p>
        </p:txBody>
      </p:sp>
    </p:spTree>
  </p:cSld>
  <p:clrMapOvr>
    <a:masterClrMapping/>
  </p:clrMapOvr>
  <mc:AlternateContent xmlns:mc="http://schemas.openxmlformats.org/markup-compatibility/2006">
    <mc:Choice xmlns:p14="http://schemas.microsoft.com/office/powerpoint/2010/main" Requires="p14">
      <p:transition spd="slow" p14:dur="1250">
        <p14:flip dir="r"/>
      </p:transition>
    </mc:Choice>
    <mc:Fallback>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8518" b="-68518"/>
            </a:stretch>
          </a:blipFill>
        </p:spPr>
      </p:sp>
      <p:grpSp>
        <p:nvGrpSpPr>
          <p:cNvPr id="3" name="Group 3"/>
          <p:cNvGrpSpPr/>
          <p:nvPr/>
        </p:nvGrpSpPr>
        <p:grpSpPr>
          <a:xfrm>
            <a:off x="10494215" y="863339"/>
            <a:ext cx="987487" cy="987487"/>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5" name="TextBox 5"/>
            <p:cNvSpPr txBox="1"/>
            <p:nvPr/>
          </p:nvSpPr>
          <p:spPr>
            <a:xfrm>
              <a:off x="76200" y="0"/>
              <a:ext cx="660400" cy="736600"/>
            </a:xfrm>
            <a:prstGeom prst="rect">
              <a:avLst/>
            </a:prstGeom>
          </p:spPr>
          <p:txBody>
            <a:bodyPr lIns="50800" tIns="50800" rIns="50800" bIns="50800" rtlCol="0" anchor="ctr"/>
            <a:lstStyle/>
            <a:p>
              <a:pPr algn="ctr">
                <a:lnSpc>
                  <a:spcPts val="3500"/>
                </a:lnSpc>
              </a:pPr>
              <a:endParaRPr/>
            </a:p>
          </p:txBody>
        </p:sp>
      </p:grpSp>
      <p:sp>
        <p:nvSpPr>
          <p:cNvPr id="6" name="Freeform 6"/>
          <p:cNvSpPr/>
          <p:nvPr/>
        </p:nvSpPr>
        <p:spPr>
          <a:xfrm>
            <a:off x="10783351" y="1159254"/>
            <a:ext cx="399928" cy="385385"/>
          </a:xfrm>
          <a:custGeom>
            <a:avLst/>
            <a:gdLst/>
            <a:ahLst/>
            <a:cxnLst/>
            <a:rect l="l" t="t" r="r" b="b"/>
            <a:pathLst>
              <a:path w="399928" h="385385">
                <a:moveTo>
                  <a:pt x="0" y="0"/>
                </a:moveTo>
                <a:lnTo>
                  <a:pt x="399927" y="0"/>
                </a:lnTo>
                <a:lnTo>
                  <a:pt x="399927" y="385385"/>
                </a:lnTo>
                <a:lnTo>
                  <a:pt x="0" y="385385"/>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grpSp>
        <p:nvGrpSpPr>
          <p:cNvPr id="7" name="Group 7"/>
          <p:cNvGrpSpPr/>
          <p:nvPr/>
        </p:nvGrpSpPr>
        <p:grpSpPr>
          <a:xfrm>
            <a:off x="304800" y="2247900"/>
            <a:ext cx="10058400" cy="7924801"/>
            <a:chOff x="0" y="0"/>
            <a:chExt cx="2137363" cy="1693244"/>
          </a:xfrm>
        </p:grpSpPr>
        <p:sp>
          <p:nvSpPr>
            <p:cNvPr id="8" name="Freeform 8"/>
            <p:cNvSpPr/>
            <p:nvPr/>
          </p:nvSpPr>
          <p:spPr>
            <a:xfrm>
              <a:off x="0" y="0"/>
              <a:ext cx="2137363" cy="1693244"/>
            </a:xfrm>
            <a:custGeom>
              <a:avLst/>
              <a:gdLst/>
              <a:ahLst/>
              <a:cxnLst/>
              <a:rect l="l" t="t" r="r" b="b"/>
              <a:pathLst>
                <a:path w="2137363" h="1693244">
                  <a:moveTo>
                    <a:pt x="28620" y="0"/>
                  </a:moveTo>
                  <a:lnTo>
                    <a:pt x="2108743" y="0"/>
                  </a:lnTo>
                  <a:cubicBezTo>
                    <a:pt x="2116334" y="0"/>
                    <a:pt x="2123613" y="3015"/>
                    <a:pt x="2128981" y="8383"/>
                  </a:cubicBezTo>
                  <a:cubicBezTo>
                    <a:pt x="2134348" y="13750"/>
                    <a:pt x="2137363" y="21029"/>
                    <a:pt x="2137363" y="28620"/>
                  </a:cubicBezTo>
                  <a:lnTo>
                    <a:pt x="2137363" y="1664624"/>
                  </a:lnTo>
                  <a:cubicBezTo>
                    <a:pt x="2137363" y="1680430"/>
                    <a:pt x="2124549" y="1693244"/>
                    <a:pt x="2108743" y="1693244"/>
                  </a:cubicBezTo>
                  <a:lnTo>
                    <a:pt x="28620" y="1693244"/>
                  </a:lnTo>
                  <a:cubicBezTo>
                    <a:pt x="12813" y="1693244"/>
                    <a:pt x="0" y="1680430"/>
                    <a:pt x="0" y="1664624"/>
                  </a:cubicBezTo>
                  <a:lnTo>
                    <a:pt x="0" y="28620"/>
                  </a:lnTo>
                  <a:cubicBezTo>
                    <a:pt x="0" y="12813"/>
                    <a:pt x="12813" y="0"/>
                    <a:pt x="28620" y="0"/>
                  </a:cubicBezTo>
                  <a:close/>
                </a:path>
              </a:pathLst>
            </a:custGeom>
            <a:solidFill>
              <a:srgbClr val="FFFFFF"/>
            </a:solidFill>
          </p:spPr>
        </p:sp>
        <p:sp>
          <p:nvSpPr>
            <p:cNvPr id="9" name="TextBox 9"/>
            <p:cNvSpPr txBox="1"/>
            <p:nvPr/>
          </p:nvSpPr>
          <p:spPr>
            <a:xfrm>
              <a:off x="0" y="-76200"/>
              <a:ext cx="2137363" cy="1769444"/>
            </a:xfrm>
            <a:prstGeom prst="rect">
              <a:avLst/>
            </a:prstGeom>
          </p:spPr>
          <p:txBody>
            <a:bodyPr lIns="50800" tIns="50800" rIns="50800" bIns="50800" rtlCol="0" anchor="ctr"/>
            <a:lstStyle/>
            <a:p>
              <a:pPr algn="ctr">
                <a:lnSpc>
                  <a:spcPts val="3500"/>
                </a:lnSpc>
              </a:pPr>
              <a:endParaRPr/>
            </a:p>
          </p:txBody>
        </p:sp>
      </p:grpSp>
      <p:grpSp>
        <p:nvGrpSpPr>
          <p:cNvPr id="10" name="Group 10"/>
          <p:cNvGrpSpPr/>
          <p:nvPr/>
        </p:nvGrpSpPr>
        <p:grpSpPr>
          <a:xfrm>
            <a:off x="10591800" y="2247900"/>
            <a:ext cx="7467600" cy="8039100"/>
            <a:chOff x="0" y="0"/>
            <a:chExt cx="1101857" cy="996026"/>
          </a:xfrm>
        </p:grpSpPr>
        <p:sp>
          <p:nvSpPr>
            <p:cNvPr id="11" name="Freeform 11"/>
            <p:cNvSpPr/>
            <p:nvPr/>
          </p:nvSpPr>
          <p:spPr>
            <a:xfrm>
              <a:off x="0" y="0"/>
              <a:ext cx="1101857" cy="996026"/>
            </a:xfrm>
            <a:custGeom>
              <a:avLst/>
              <a:gdLst/>
              <a:ahLst/>
              <a:cxnLst/>
              <a:rect l="l" t="t" r="r" b="b"/>
              <a:pathLst>
                <a:path w="1101857" h="996026">
                  <a:moveTo>
                    <a:pt x="32657" y="0"/>
                  </a:moveTo>
                  <a:lnTo>
                    <a:pt x="1069200" y="0"/>
                  </a:lnTo>
                  <a:cubicBezTo>
                    <a:pt x="1077861" y="0"/>
                    <a:pt x="1086167" y="3441"/>
                    <a:pt x="1092292" y="9565"/>
                  </a:cubicBezTo>
                  <a:cubicBezTo>
                    <a:pt x="1098416" y="15689"/>
                    <a:pt x="1101857" y="23995"/>
                    <a:pt x="1101857" y="32657"/>
                  </a:cubicBezTo>
                  <a:lnTo>
                    <a:pt x="1101857" y="963369"/>
                  </a:lnTo>
                  <a:cubicBezTo>
                    <a:pt x="1101857" y="972030"/>
                    <a:pt x="1098416" y="980337"/>
                    <a:pt x="1092292" y="986461"/>
                  </a:cubicBezTo>
                  <a:cubicBezTo>
                    <a:pt x="1086167" y="992585"/>
                    <a:pt x="1077861" y="996026"/>
                    <a:pt x="1069200" y="996026"/>
                  </a:cubicBezTo>
                  <a:lnTo>
                    <a:pt x="32657" y="996026"/>
                  </a:lnTo>
                  <a:cubicBezTo>
                    <a:pt x="14621" y="996026"/>
                    <a:pt x="0" y="981405"/>
                    <a:pt x="0" y="963369"/>
                  </a:cubicBezTo>
                  <a:lnTo>
                    <a:pt x="0" y="32657"/>
                  </a:lnTo>
                  <a:cubicBezTo>
                    <a:pt x="0" y="23995"/>
                    <a:pt x="3441" y="15689"/>
                    <a:pt x="9565" y="9565"/>
                  </a:cubicBezTo>
                  <a:cubicBezTo>
                    <a:pt x="15689" y="3441"/>
                    <a:pt x="23995" y="0"/>
                    <a:pt x="32657" y="0"/>
                  </a:cubicBezTo>
                  <a:close/>
                </a:path>
              </a:pathLst>
            </a:custGeom>
            <a:blipFill>
              <a:blip r:embed="rId5"/>
              <a:stretch>
                <a:fillRect b="-10625"/>
              </a:stretch>
            </a:blipFill>
          </p:spPr>
        </p:sp>
      </p:grpSp>
      <p:sp>
        <p:nvSpPr>
          <p:cNvPr id="12" name="Freeform 12"/>
          <p:cNvSpPr/>
          <p:nvPr/>
        </p:nvSpPr>
        <p:spPr>
          <a:xfrm>
            <a:off x="113071" y="381804"/>
            <a:ext cx="2003750" cy="1776335"/>
          </a:xfrm>
          <a:custGeom>
            <a:avLst/>
            <a:gdLst/>
            <a:ahLst/>
            <a:cxnLst/>
            <a:rect l="l" t="t" r="r" b="b"/>
            <a:pathLst>
              <a:path w="3568616" h="3568616">
                <a:moveTo>
                  <a:pt x="0" y="0"/>
                </a:moveTo>
                <a:lnTo>
                  <a:pt x="3568616" y="0"/>
                </a:lnTo>
                <a:lnTo>
                  <a:pt x="3568616" y="3568616"/>
                </a:lnTo>
                <a:lnTo>
                  <a:pt x="0" y="3568616"/>
                </a:lnTo>
                <a:lnTo>
                  <a:pt x="0" y="0"/>
                </a:lnTo>
                <a:close/>
              </a:path>
            </a:pathLst>
          </a:custGeom>
          <a:blipFill>
            <a:blip r:embed="rId6">
              <a:extLst>
                <a:ext uri="{96DAC541-7B7A-43D3-8B79-37D633B846F1}">
                  <asvg:svgBlip xmlns="" xmlns:asvg="http://schemas.microsoft.com/office/drawing/2016/SVG/main" r:embed="rId7"/>
                </a:ext>
              </a:extLst>
            </a:blip>
            <a:stretch>
              <a:fillRect/>
            </a:stretch>
          </a:blipFill>
        </p:spPr>
      </p:sp>
      <p:sp>
        <p:nvSpPr>
          <p:cNvPr id="13" name="Freeform 13"/>
          <p:cNvSpPr/>
          <p:nvPr/>
        </p:nvSpPr>
        <p:spPr>
          <a:xfrm>
            <a:off x="15813357" y="7812357"/>
            <a:ext cx="4949286" cy="4949286"/>
          </a:xfrm>
          <a:custGeom>
            <a:avLst/>
            <a:gdLst/>
            <a:ahLst/>
            <a:cxnLst/>
            <a:rect l="l" t="t" r="r" b="b"/>
            <a:pathLst>
              <a:path w="4949286" h="4949286">
                <a:moveTo>
                  <a:pt x="0" y="0"/>
                </a:moveTo>
                <a:lnTo>
                  <a:pt x="4949286" y="0"/>
                </a:lnTo>
                <a:lnTo>
                  <a:pt x="4949286" y="4949286"/>
                </a:lnTo>
                <a:lnTo>
                  <a:pt x="0" y="4949286"/>
                </a:lnTo>
                <a:lnTo>
                  <a:pt x="0" y="0"/>
                </a:lnTo>
                <a:close/>
              </a:path>
            </a:pathLst>
          </a:custGeom>
          <a:blipFill>
            <a:blip r:embed="rId6">
              <a:extLst>
                <a:ext uri="{96DAC541-7B7A-43D3-8B79-37D633B846F1}">
                  <asvg:svgBlip xmlns="" xmlns:asvg="http://schemas.microsoft.com/office/drawing/2016/SVG/main" r:embed="rId7"/>
                </a:ext>
              </a:extLst>
            </a:blip>
            <a:stretch>
              <a:fillRect/>
            </a:stretch>
          </a:blipFill>
        </p:spPr>
      </p:sp>
      <p:sp>
        <p:nvSpPr>
          <p:cNvPr id="14" name="Freeform 14"/>
          <p:cNvSpPr/>
          <p:nvPr/>
        </p:nvSpPr>
        <p:spPr>
          <a:xfrm>
            <a:off x="-1270601" y="9421977"/>
            <a:ext cx="2070701" cy="2070701"/>
          </a:xfrm>
          <a:custGeom>
            <a:avLst/>
            <a:gdLst/>
            <a:ahLst/>
            <a:cxnLst/>
            <a:rect l="l" t="t" r="r" b="b"/>
            <a:pathLst>
              <a:path w="2070701" h="2070701">
                <a:moveTo>
                  <a:pt x="0" y="0"/>
                </a:moveTo>
                <a:lnTo>
                  <a:pt x="2070701" y="0"/>
                </a:lnTo>
                <a:lnTo>
                  <a:pt x="2070701" y="2070701"/>
                </a:lnTo>
                <a:lnTo>
                  <a:pt x="0" y="2070701"/>
                </a:lnTo>
                <a:lnTo>
                  <a:pt x="0" y="0"/>
                </a:lnTo>
                <a:close/>
              </a:path>
            </a:pathLst>
          </a:custGeom>
          <a:blipFill>
            <a:blip r:embed="rId6">
              <a:extLst>
                <a:ext uri="{96DAC541-7B7A-43D3-8B79-37D633B846F1}">
                  <asvg:svgBlip xmlns="" xmlns:asvg="http://schemas.microsoft.com/office/drawing/2016/SVG/main" r:embed="rId7"/>
                </a:ext>
              </a:extLst>
            </a:blip>
            <a:stretch>
              <a:fillRect/>
            </a:stretch>
          </a:blipFill>
        </p:spPr>
      </p:sp>
      <p:sp>
        <p:nvSpPr>
          <p:cNvPr id="15" name="TextBox 15"/>
          <p:cNvSpPr txBox="1"/>
          <p:nvPr/>
        </p:nvSpPr>
        <p:spPr>
          <a:xfrm>
            <a:off x="2637821" y="773590"/>
            <a:ext cx="7308137" cy="1166986"/>
          </a:xfrm>
          <a:prstGeom prst="rect">
            <a:avLst/>
          </a:prstGeom>
        </p:spPr>
        <p:txBody>
          <a:bodyPr wrap="square" lIns="0" tIns="0" rIns="0" bIns="0" rtlCol="0" anchor="t">
            <a:spAutoFit/>
          </a:bodyPr>
          <a:lstStyle/>
          <a:p>
            <a:pPr algn="l">
              <a:lnSpc>
                <a:spcPts val="9100"/>
              </a:lnSpc>
              <a:spcBef>
                <a:spcPct val="0"/>
              </a:spcBef>
            </a:pPr>
            <a:r>
              <a:rPr lang="en-US" sz="7200" b="1" dirty="0">
                <a:solidFill>
                  <a:srgbClr val="FFFFFF"/>
                </a:solidFill>
                <a:latin typeface="Poppins Bold"/>
                <a:ea typeface="Poppins Bold"/>
                <a:cs typeface="Poppins Bold"/>
                <a:sym typeface="Poppins Bold"/>
              </a:rPr>
              <a:t>INTRODUCTION</a:t>
            </a:r>
            <a:endParaRPr lang="en-US" sz="6500" b="1" dirty="0">
              <a:solidFill>
                <a:srgbClr val="FFFFFF"/>
              </a:solidFill>
              <a:latin typeface="Poppins Bold"/>
              <a:ea typeface="Poppins Bold"/>
              <a:cs typeface="Poppins Bold"/>
              <a:sym typeface="Poppins Bold"/>
            </a:endParaRPr>
          </a:p>
        </p:txBody>
      </p:sp>
      <p:sp>
        <p:nvSpPr>
          <p:cNvPr id="16" name="TextBox 16"/>
          <p:cNvSpPr txBox="1"/>
          <p:nvPr/>
        </p:nvSpPr>
        <p:spPr>
          <a:xfrm>
            <a:off x="609601" y="2539943"/>
            <a:ext cx="9525000" cy="2693045"/>
          </a:xfrm>
          <a:prstGeom prst="rect">
            <a:avLst/>
          </a:prstGeom>
        </p:spPr>
        <p:txBody>
          <a:bodyPr wrap="square" lIns="0" tIns="0" rIns="0" bIns="0" rtlCol="0" anchor="t">
            <a:spAutoFit/>
          </a:bodyPr>
          <a:lstStyle/>
          <a:p>
            <a:pPr marL="342900" indent="-342900" algn="just">
              <a:lnSpc>
                <a:spcPts val="3500"/>
              </a:lnSpc>
              <a:spcBef>
                <a:spcPct val="0"/>
              </a:spcBef>
              <a:buFont typeface="Wingdings" panose="05000000000000000000" pitchFamily="2" charset="2"/>
              <a:buChar char="q"/>
            </a:pPr>
            <a:r>
              <a:rPr lang="en-GB" sz="2500" dirty="0">
                <a:solidFill>
                  <a:srgbClr val="131D44"/>
                </a:solidFill>
                <a:latin typeface="Poppins"/>
                <a:ea typeface="Poppins"/>
                <a:cs typeface="Poppins"/>
                <a:sym typeface="Poppins"/>
              </a:rPr>
              <a:t>In today’s world, technology plays an important role in business and daily life. The term “Women Entrepreneurs in the Digital Era” refers to women who start and manage businesses using digital tools such as the internet, social media, e-commerce platforms, and online payment systems.</a:t>
            </a:r>
            <a:endParaRPr lang="en-US" sz="2500" dirty="0">
              <a:solidFill>
                <a:srgbClr val="131D44"/>
              </a:solidFill>
              <a:latin typeface="Poppins"/>
              <a:ea typeface="Poppins"/>
              <a:cs typeface="Poppins"/>
              <a:sym typeface="Poppins"/>
            </a:endParaRPr>
          </a:p>
        </p:txBody>
      </p:sp>
      <p:sp>
        <p:nvSpPr>
          <p:cNvPr id="17" name="TextBox 17"/>
          <p:cNvSpPr txBox="1"/>
          <p:nvPr/>
        </p:nvSpPr>
        <p:spPr>
          <a:xfrm>
            <a:off x="596706" y="8061280"/>
            <a:ext cx="9537895" cy="1795363"/>
          </a:xfrm>
          <a:prstGeom prst="rect">
            <a:avLst/>
          </a:prstGeom>
        </p:spPr>
        <p:txBody>
          <a:bodyPr wrap="square" lIns="0" tIns="0" rIns="0" bIns="0" rtlCol="0" anchor="t">
            <a:spAutoFit/>
          </a:bodyPr>
          <a:lstStyle/>
          <a:p>
            <a:pPr marL="342900" indent="-342900" algn="just">
              <a:lnSpc>
                <a:spcPts val="3500"/>
              </a:lnSpc>
              <a:spcBef>
                <a:spcPct val="0"/>
              </a:spcBef>
              <a:buFont typeface="Wingdings" panose="05000000000000000000" pitchFamily="2" charset="2"/>
              <a:buChar char="q"/>
            </a:pPr>
            <a:r>
              <a:rPr lang="en-GB" sz="2500" dirty="0">
                <a:solidFill>
                  <a:srgbClr val="131D44"/>
                </a:solidFill>
                <a:latin typeface="Poppins"/>
                <a:ea typeface="Poppins"/>
                <a:cs typeface="Poppins"/>
                <a:sym typeface="Poppins"/>
              </a:rPr>
              <a:t>Women entrepreneurs in the digital era are not only growing their own businesses but also contributing to the country’s economy and promoting women empowerment.</a:t>
            </a:r>
            <a:endParaRPr lang="en-US" sz="2500" dirty="0">
              <a:solidFill>
                <a:srgbClr val="131D44"/>
              </a:solidFill>
              <a:latin typeface="Poppins"/>
              <a:ea typeface="Poppins"/>
              <a:cs typeface="Poppins"/>
              <a:sym typeface="Poppins"/>
            </a:endParaRPr>
          </a:p>
        </p:txBody>
      </p:sp>
      <p:sp>
        <p:nvSpPr>
          <p:cNvPr id="18" name="TextBox 18"/>
          <p:cNvSpPr txBox="1"/>
          <p:nvPr/>
        </p:nvSpPr>
        <p:spPr>
          <a:xfrm>
            <a:off x="609601" y="5525032"/>
            <a:ext cx="9525000" cy="2244204"/>
          </a:xfrm>
          <a:prstGeom prst="rect">
            <a:avLst/>
          </a:prstGeom>
        </p:spPr>
        <p:txBody>
          <a:bodyPr wrap="square" lIns="0" tIns="0" rIns="0" bIns="0" rtlCol="0" anchor="t">
            <a:spAutoFit/>
          </a:bodyPr>
          <a:lstStyle/>
          <a:p>
            <a:pPr marL="342900" indent="-342900" algn="just">
              <a:lnSpc>
                <a:spcPts val="3500"/>
              </a:lnSpc>
              <a:spcBef>
                <a:spcPct val="0"/>
              </a:spcBef>
              <a:buFont typeface="Wingdings" panose="05000000000000000000" pitchFamily="2" charset="2"/>
              <a:buChar char="q"/>
            </a:pPr>
            <a:r>
              <a:rPr lang="en-GB" sz="2500" dirty="0">
                <a:solidFill>
                  <a:srgbClr val="131D44"/>
                </a:solidFill>
                <a:latin typeface="Poppins"/>
                <a:ea typeface="Poppins"/>
                <a:cs typeface="Poppins"/>
                <a:sym typeface="Poppins"/>
              </a:rPr>
              <a:t>The digital era has created many new opportunities for women to start businesses from home with low investment and reach customers across the world. With the help of technology, women are becoming independent, confident, and successful business leaders.</a:t>
            </a:r>
            <a:endParaRPr lang="en-US" sz="2500" dirty="0">
              <a:solidFill>
                <a:srgbClr val="131D44"/>
              </a:solidFill>
              <a:latin typeface="Poppins"/>
              <a:ea typeface="Poppins"/>
              <a:cs typeface="Poppins"/>
              <a:sym typeface="Poppins"/>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8518" b="-68518"/>
            </a:stretch>
          </a:blipFill>
        </p:spPr>
      </p:sp>
      <p:sp>
        <p:nvSpPr>
          <p:cNvPr id="34" name="TextBox 34"/>
          <p:cNvSpPr txBox="1"/>
          <p:nvPr/>
        </p:nvSpPr>
        <p:spPr>
          <a:xfrm>
            <a:off x="10154045" y="4363465"/>
            <a:ext cx="1048519" cy="1095342"/>
          </a:xfrm>
          <a:prstGeom prst="rect">
            <a:avLst/>
          </a:prstGeom>
        </p:spPr>
        <p:txBody>
          <a:bodyPr lIns="0" tIns="0" rIns="0" bIns="0" rtlCol="0" anchor="t">
            <a:spAutoFit/>
          </a:bodyPr>
          <a:lstStyle/>
          <a:p>
            <a:pPr algn="ctr">
              <a:lnSpc>
                <a:spcPts val="8400"/>
              </a:lnSpc>
              <a:spcBef>
                <a:spcPct val="0"/>
              </a:spcBef>
            </a:pPr>
            <a:r>
              <a:rPr lang="en-US" sz="6000" b="1">
                <a:solidFill>
                  <a:srgbClr val="131D44"/>
                </a:solidFill>
                <a:latin typeface="Poppins Bold"/>
                <a:ea typeface="Poppins Bold"/>
                <a:cs typeface="Poppins Bold"/>
                <a:sym typeface="Poppins Bold"/>
              </a:rPr>
              <a:t>03</a:t>
            </a:r>
          </a:p>
        </p:txBody>
      </p:sp>
      <p:pic>
        <p:nvPicPr>
          <p:cNvPr id="41" name="Picture 4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8288000" cy="10263908"/>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drape"/>
      </p:transition>
    </mc:Choice>
    <mc:Fallback>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8518" b="-68518"/>
            </a:stretch>
          </a:blipFill>
        </p:spPr>
      </p:sp>
      <p:sp>
        <p:nvSpPr>
          <p:cNvPr id="34" name="TextBox 34"/>
          <p:cNvSpPr txBox="1"/>
          <p:nvPr/>
        </p:nvSpPr>
        <p:spPr>
          <a:xfrm>
            <a:off x="10154045" y="4363465"/>
            <a:ext cx="1048519" cy="1095342"/>
          </a:xfrm>
          <a:prstGeom prst="rect">
            <a:avLst/>
          </a:prstGeom>
        </p:spPr>
        <p:txBody>
          <a:bodyPr lIns="0" tIns="0" rIns="0" bIns="0" rtlCol="0" anchor="t">
            <a:spAutoFit/>
          </a:bodyPr>
          <a:lstStyle/>
          <a:p>
            <a:pPr algn="ctr">
              <a:lnSpc>
                <a:spcPts val="8400"/>
              </a:lnSpc>
              <a:spcBef>
                <a:spcPct val="0"/>
              </a:spcBef>
            </a:pPr>
            <a:r>
              <a:rPr lang="en-US" sz="6000" b="1">
                <a:solidFill>
                  <a:srgbClr val="131D44"/>
                </a:solidFill>
                <a:latin typeface="Poppins Bold"/>
                <a:ea typeface="Poppins Bold"/>
                <a:cs typeface="Poppins Bold"/>
                <a:sym typeface="Poppins Bold"/>
              </a:rPr>
              <a:t>03</a:t>
            </a: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1809"/>
            <a:ext cx="18288000" cy="10225191"/>
          </a:xfrm>
          <a:prstGeom prst="rect">
            <a:avLst/>
          </a:prstGeom>
        </p:spPr>
      </p:pic>
    </p:spTree>
    <p:extLst>
      <p:ext uri="{BB962C8B-B14F-4D97-AF65-F5344CB8AC3E}">
        <p14:creationId xmlns:p14="http://schemas.microsoft.com/office/powerpoint/2010/main" val="279211016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crush"/>
      </p:transition>
    </mc:Choice>
    <mc:Fallback>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8518" b="-68518"/>
            </a:stretch>
          </a:blipFill>
        </p:spPr>
      </p:sp>
      <p:sp>
        <p:nvSpPr>
          <p:cNvPr id="34" name="TextBox 34"/>
          <p:cNvSpPr txBox="1"/>
          <p:nvPr/>
        </p:nvSpPr>
        <p:spPr>
          <a:xfrm>
            <a:off x="10154045" y="4363465"/>
            <a:ext cx="1048519" cy="1095342"/>
          </a:xfrm>
          <a:prstGeom prst="rect">
            <a:avLst/>
          </a:prstGeom>
        </p:spPr>
        <p:txBody>
          <a:bodyPr lIns="0" tIns="0" rIns="0" bIns="0" rtlCol="0" anchor="t">
            <a:spAutoFit/>
          </a:bodyPr>
          <a:lstStyle/>
          <a:p>
            <a:pPr algn="ctr">
              <a:lnSpc>
                <a:spcPts val="8400"/>
              </a:lnSpc>
              <a:spcBef>
                <a:spcPct val="0"/>
              </a:spcBef>
            </a:pPr>
            <a:r>
              <a:rPr lang="en-US" sz="6000" b="1">
                <a:solidFill>
                  <a:srgbClr val="131D44"/>
                </a:solidFill>
                <a:latin typeface="Poppins Bold"/>
                <a:ea typeface="Poppins Bold"/>
                <a:cs typeface="Poppins Bold"/>
                <a:sym typeface="Poppins Bold"/>
              </a:rPr>
              <a:t>03</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 y="48260"/>
            <a:ext cx="18135600" cy="10238740"/>
          </a:xfrm>
          <a:prstGeom prst="rect">
            <a:avLst/>
          </a:prstGeom>
        </p:spPr>
      </p:pic>
    </p:spTree>
    <p:extLst>
      <p:ext uri="{BB962C8B-B14F-4D97-AF65-F5344CB8AC3E}">
        <p14:creationId xmlns:p14="http://schemas.microsoft.com/office/powerpoint/2010/main" val="3344920507"/>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prestige"/>
      </p:transition>
    </mc:Choice>
    <mc:Fallback>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8518" b="-68518"/>
            </a:stretch>
          </a:blipFill>
        </p:spPr>
      </p:sp>
      <p:grpSp>
        <p:nvGrpSpPr>
          <p:cNvPr id="3" name="Group 3"/>
          <p:cNvGrpSpPr/>
          <p:nvPr/>
        </p:nvGrpSpPr>
        <p:grpSpPr>
          <a:xfrm>
            <a:off x="9014697" y="2204844"/>
            <a:ext cx="987487" cy="987487"/>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5" name="TextBox 5"/>
            <p:cNvSpPr txBox="1"/>
            <p:nvPr/>
          </p:nvSpPr>
          <p:spPr>
            <a:xfrm>
              <a:off x="76200" y="0"/>
              <a:ext cx="660400" cy="736600"/>
            </a:xfrm>
            <a:prstGeom prst="rect">
              <a:avLst/>
            </a:prstGeom>
          </p:spPr>
          <p:txBody>
            <a:bodyPr lIns="50800" tIns="50800" rIns="50800" bIns="50800" rtlCol="0" anchor="ctr"/>
            <a:lstStyle/>
            <a:p>
              <a:pPr algn="ctr">
                <a:lnSpc>
                  <a:spcPts val="3500"/>
                </a:lnSpc>
              </a:pPr>
              <a:endParaRPr/>
            </a:p>
          </p:txBody>
        </p:sp>
      </p:grpSp>
      <p:sp>
        <p:nvSpPr>
          <p:cNvPr id="6" name="Freeform 6"/>
          <p:cNvSpPr/>
          <p:nvPr/>
        </p:nvSpPr>
        <p:spPr>
          <a:xfrm>
            <a:off x="9398301" y="2518186"/>
            <a:ext cx="399928" cy="385385"/>
          </a:xfrm>
          <a:custGeom>
            <a:avLst/>
            <a:gdLst/>
            <a:ahLst/>
            <a:cxnLst/>
            <a:rect l="l" t="t" r="r" b="b"/>
            <a:pathLst>
              <a:path w="399928" h="385385">
                <a:moveTo>
                  <a:pt x="0" y="0"/>
                </a:moveTo>
                <a:lnTo>
                  <a:pt x="399927" y="0"/>
                </a:lnTo>
                <a:lnTo>
                  <a:pt x="399927" y="385385"/>
                </a:lnTo>
                <a:lnTo>
                  <a:pt x="0" y="385385"/>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7" name="TextBox 7"/>
          <p:cNvSpPr txBox="1"/>
          <p:nvPr/>
        </p:nvSpPr>
        <p:spPr>
          <a:xfrm>
            <a:off x="1028700" y="838200"/>
            <a:ext cx="15335690" cy="2333972"/>
          </a:xfrm>
          <a:prstGeom prst="rect">
            <a:avLst/>
          </a:prstGeom>
        </p:spPr>
        <p:txBody>
          <a:bodyPr wrap="square" lIns="0" tIns="0" rIns="0" bIns="0" rtlCol="0" anchor="t">
            <a:spAutoFit/>
          </a:bodyPr>
          <a:lstStyle/>
          <a:p>
            <a:pPr>
              <a:lnSpc>
                <a:spcPts val="9100"/>
              </a:lnSpc>
              <a:spcBef>
                <a:spcPct val="0"/>
              </a:spcBef>
            </a:pPr>
            <a:r>
              <a:rPr lang="en-GB" sz="6500" b="1" dirty="0">
                <a:solidFill>
                  <a:srgbClr val="FFFFFF"/>
                </a:solidFill>
                <a:latin typeface="Poppins Bold"/>
                <a:ea typeface="Poppins Bold"/>
                <a:cs typeface="Poppins Bold"/>
                <a:sym typeface="Poppins Bold"/>
              </a:rPr>
              <a:t>Challenges Faced by Women Entrepreneurs</a:t>
            </a:r>
            <a:endParaRPr lang="en-US" sz="6500" b="1" dirty="0">
              <a:solidFill>
                <a:srgbClr val="FFFFFF"/>
              </a:solidFill>
              <a:latin typeface="Poppins Bold"/>
              <a:ea typeface="Poppins Bold"/>
              <a:cs typeface="Poppins Bold"/>
              <a:sym typeface="Poppins Bold"/>
            </a:endParaRPr>
          </a:p>
        </p:txBody>
      </p:sp>
      <p:grpSp>
        <p:nvGrpSpPr>
          <p:cNvPr id="14" name="Group 14"/>
          <p:cNvGrpSpPr/>
          <p:nvPr/>
        </p:nvGrpSpPr>
        <p:grpSpPr>
          <a:xfrm>
            <a:off x="1063956" y="3848100"/>
            <a:ext cx="9832644" cy="5943600"/>
            <a:chOff x="0" y="0"/>
            <a:chExt cx="2041378" cy="263579"/>
          </a:xfrm>
        </p:grpSpPr>
        <p:sp>
          <p:nvSpPr>
            <p:cNvPr id="15" name="Freeform 15"/>
            <p:cNvSpPr/>
            <p:nvPr/>
          </p:nvSpPr>
          <p:spPr>
            <a:xfrm>
              <a:off x="0" y="0"/>
              <a:ext cx="2041378" cy="263579"/>
            </a:xfrm>
            <a:custGeom>
              <a:avLst/>
              <a:gdLst/>
              <a:ahLst/>
              <a:cxnLst/>
              <a:rect l="l" t="t" r="r" b="b"/>
              <a:pathLst>
                <a:path w="2041378" h="263579">
                  <a:moveTo>
                    <a:pt x="29965" y="0"/>
                  </a:moveTo>
                  <a:lnTo>
                    <a:pt x="2011413" y="0"/>
                  </a:lnTo>
                  <a:cubicBezTo>
                    <a:pt x="2019360" y="0"/>
                    <a:pt x="2026982" y="3157"/>
                    <a:pt x="2032602" y="8777"/>
                  </a:cubicBezTo>
                  <a:cubicBezTo>
                    <a:pt x="2038222" y="14396"/>
                    <a:pt x="2041378" y="22018"/>
                    <a:pt x="2041378" y="29965"/>
                  </a:cubicBezTo>
                  <a:lnTo>
                    <a:pt x="2041378" y="233614"/>
                  </a:lnTo>
                  <a:cubicBezTo>
                    <a:pt x="2041378" y="250163"/>
                    <a:pt x="2027962" y="263579"/>
                    <a:pt x="2011413" y="263579"/>
                  </a:cubicBezTo>
                  <a:lnTo>
                    <a:pt x="29965" y="263579"/>
                  </a:lnTo>
                  <a:cubicBezTo>
                    <a:pt x="13416" y="263579"/>
                    <a:pt x="0" y="250163"/>
                    <a:pt x="0" y="233614"/>
                  </a:cubicBezTo>
                  <a:lnTo>
                    <a:pt x="0" y="29965"/>
                  </a:lnTo>
                  <a:cubicBezTo>
                    <a:pt x="0" y="13416"/>
                    <a:pt x="13416" y="0"/>
                    <a:pt x="29965" y="0"/>
                  </a:cubicBezTo>
                  <a:close/>
                </a:path>
              </a:pathLst>
            </a:custGeom>
            <a:solidFill>
              <a:srgbClr val="FFFFFF"/>
            </a:solidFill>
          </p:spPr>
        </p:sp>
        <p:sp>
          <p:nvSpPr>
            <p:cNvPr id="16" name="TextBox 16"/>
            <p:cNvSpPr txBox="1"/>
            <p:nvPr/>
          </p:nvSpPr>
          <p:spPr>
            <a:xfrm>
              <a:off x="0" y="-76200"/>
              <a:ext cx="2041378" cy="339779"/>
            </a:xfrm>
            <a:prstGeom prst="rect">
              <a:avLst/>
            </a:prstGeom>
          </p:spPr>
          <p:txBody>
            <a:bodyPr lIns="50800" tIns="50800" rIns="50800" bIns="50800" rtlCol="0" anchor="ctr"/>
            <a:lstStyle/>
            <a:p>
              <a:pPr algn="ctr">
                <a:lnSpc>
                  <a:spcPts val="3500"/>
                </a:lnSpc>
              </a:pPr>
              <a:endParaRPr/>
            </a:p>
          </p:txBody>
        </p:sp>
      </p:grpSp>
      <p:sp>
        <p:nvSpPr>
          <p:cNvPr id="25" name="TextBox 25"/>
          <p:cNvSpPr txBox="1"/>
          <p:nvPr/>
        </p:nvSpPr>
        <p:spPr>
          <a:xfrm>
            <a:off x="1828800" y="4781253"/>
            <a:ext cx="12120661" cy="3847207"/>
          </a:xfrm>
          <a:prstGeom prst="rect">
            <a:avLst/>
          </a:prstGeom>
        </p:spPr>
        <p:txBody>
          <a:bodyPr wrap="square" lIns="0" tIns="0" rIns="0" bIns="0" rtlCol="0" anchor="t">
            <a:spAutoFit/>
          </a:bodyPr>
          <a:lstStyle/>
          <a:p>
            <a:pPr marL="342900" indent="-342900">
              <a:lnSpc>
                <a:spcPct val="200000"/>
              </a:lnSpc>
              <a:spcBef>
                <a:spcPct val="0"/>
              </a:spcBef>
              <a:buFont typeface="Wingdings" panose="05000000000000000000" pitchFamily="2" charset="2"/>
              <a:buChar char="q"/>
            </a:pPr>
            <a:r>
              <a:rPr lang="en-GB" sz="2500" b="1" dirty="0">
                <a:solidFill>
                  <a:srgbClr val="131D44"/>
                </a:solidFill>
                <a:latin typeface="Poppins Bold"/>
                <a:ea typeface="Poppins Bold"/>
                <a:cs typeface="Poppins Bold"/>
                <a:sym typeface="Poppins Bold"/>
              </a:rPr>
              <a:t>Lack of digital knowledge and technical </a:t>
            </a:r>
            <a:r>
              <a:rPr lang="en-GB" sz="2500" b="1" dirty="0" smtClean="0">
                <a:solidFill>
                  <a:srgbClr val="131D44"/>
                </a:solidFill>
                <a:latin typeface="Poppins Bold"/>
                <a:ea typeface="Poppins Bold"/>
                <a:cs typeface="Poppins Bold"/>
                <a:sym typeface="Poppins Bold"/>
              </a:rPr>
              <a:t>skills</a:t>
            </a:r>
          </a:p>
          <a:p>
            <a:pPr marL="342900" indent="-342900">
              <a:lnSpc>
                <a:spcPct val="200000"/>
              </a:lnSpc>
              <a:spcBef>
                <a:spcPct val="0"/>
              </a:spcBef>
              <a:buFont typeface="Wingdings" panose="05000000000000000000" pitchFamily="2" charset="2"/>
              <a:buChar char="q"/>
            </a:pPr>
            <a:r>
              <a:rPr lang="en-GB" sz="2500" b="1" dirty="0">
                <a:solidFill>
                  <a:srgbClr val="131D44"/>
                </a:solidFill>
                <a:latin typeface="Poppins Bold"/>
                <a:ea typeface="Poppins Bold"/>
                <a:cs typeface="Poppins Bold"/>
                <a:sym typeface="Poppins Bold"/>
              </a:rPr>
              <a:t>Difficulty in getting financial support or loans</a:t>
            </a:r>
            <a:r>
              <a:rPr lang="en-GB" sz="2500" b="1" dirty="0" smtClean="0">
                <a:solidFill>
                  <a:srgbClr val="131D44"/>
                </a:solidFill>
                <a:latin typeface="Poppins Bold"/>
                <a:ea typeface="Poppins Bold"/>
                <a:cs typeface="Poppins Bold"/>
                <a:sym typeface="Poppins Bold"/>
              </a:rPr>
              <a:t>.</a:t>
            </a:r>
          </a:p>
          <a:p>
            <a:pPr marL="342900" indent="-342900">
              <a:lnSpc>
                <a:spcPct val="200000"/>
              </a:lnSpc>
              <a:spcBef>
                <a:spcPct val="0"/>
              </a:spcBef>
              <a:buFont typeface="Wingdings" panose="05000000000000000000" pitchFamily="2" charset="2"/>
              <a:buChar char="q"/>
            </a:pPr>
            <a:r>
              <a:rPr lang="en-GB" sz="2500" b="1" dirty="0">
                <a:solidFill>
                  <a:srgbClr val="131D44"/>
                </a:solidFill>
                <a:latin typeface="Poppins Bold"/>
                <a:ea typeface="Poppins Bold"/>
                <a:cs typeface="Poppins Bold"/>
                <a:sym typeface="Poppins Bold"/>
              </a:rPr>
              <a:t>Balancing work and family responsibilities</a:t>
            </a:r>
            <a:r>
              <a:rPr lang="en-GB" sz="2500" b="1" dirty="0" smtClean="0">
                <a:solidFill>
                  <a:srgbClr val="131D44"/>
                </a:solidFill>
                <a:latin typeface="Poppins Bold"/>
                <a:ea typeface="Poppins Bold"/>
                <a:cs typeface="Poppins Bold"/>
                <a:sym typeface="Poppins Bold"/>
              </a:rPr>
              <a:t>.</a:t>
            </a:r>
          </a:p>
          <a:p>
            <a:pPr marL="342900" indent="-342900">
              <a:lnSpc>
                <a:spcPct val="200000"/>
              </a:lnSpc>
              <a:spcBef>
                <a:spcPct val="0"/>
              </a:spcBef>
              <a:buFont typeface="Wingdings" panose="05000000000000000000" pitchFamily="2" charset="2"/>
              <a:buChar char="q"/>
            </a:pPr>
            <a:r>
              <a:rPr lang="en-GB" sz="2500" b="1" dirty="0">
                <a:solidFill>
                  <a:srgbClr val="131D44"/>
                </a:solidFill>
                <a:latin typeface="Poppins Bold"/>
                <a:ea typeface="Poppins Bold"/>
                <a:cs typeface="Poppins Bold"/>
                <a:sym typeface="Poppins Bold"/>
              </a:rPr>
              <a:t>Limited access to resources and networks</a:t>
            </a:r>
            <a:r>
              <a:rPr lang="en-GB" sz="2500" b="1" dirty="0" smtClean="0">
                <a:solidFill>
                  <a:srgbClr val="131D44"/>
                </a:solidFill>
                <a:latin typeface="Poppins Bold"/>
                <a:ea typeface="Poppins Bold"/>
                <a:cs typeface="Poppins Bold"/>
                <a:sym typeface="Poppins Bold"/>
              </a:rPr>
              <a:t>.</a:t>
            </a:r>
          </a:p>
          <a:p>
            <a:pPr marL="342900" indent="-342900">
              <a:lnSpc>
                <a:spcPct val="200000"/>
              </a:lnSpc>
              <a:spcBef>
                <a:spcPct val="0"/>
              </a:spcBef>
              <a:buFont typeface="Wingdings" panose="05000000000000000000" pitchFamily="2" charset="2"/>
              <a:buChar char="q"/>
            </a:pPr>
            <a:r>
              <a:rPr lang="en-GB" sz="2500" b="1" dirty="0">
                <a:solidFill>
                  <a:srgbClr val="131D44"/>
                </a:solidFill>
                <a:latin typeface="Poppins Bold"/>
                <a:ea typeface="Poppins Bold"/>
                <a:cs typeface="Poppins Bold"/>
                <a:sym typeface="Poppins Bold"/>
              </a:rPr>
              <a:t>Risk of online fraud and cyber security issues.</a:t>
            </a:r>
            <a:endParaRPr lang="en-US" sz="2500" b="1" dirty="0">
              <a:solidFill>
                <a:srgbClr val="131D44"/>
              </a:solidFill>
              <a:latin typeface="Poppins Bold"/>
              <a:ea typeface="Poppins Bold"/>
              <a:cs typeface="Poppins Bold"/>
              <a:sym typeface="Poppins Bold"/>
            </a:endParaRPr>
          </a:p>
        </p:txBody>
      </p:sp>
      <p:sp>
        <p:nvSpPr>
          <p:cNvPr id="29" name="Freeform 29"/>
          <p:cNvSpPr/>
          <p:nvPr/>
        </p:nvSpPr>
        <p:spPr>
          <a:xfrm>
            <a:off x="13196941" y="-1853480"/>
            <a:ext cx="3568616" cy="3568616"/>
          </a:xfrm>
          <a:custGeom>
            <a:avLst/>
            <a:gdLst/>
            <a:ahLst/>
            <a:cxnLst/>
            <a:rect l="l" t="t" r="r" b="b"/>
            <a:pathLst>
              <a:path w="3568616" h="3568616">
                <a:moveTo>
                  <a:pt x="0" y="0"/>
                </a:moveTo>
                <a:lnTo>
                  <a:pt x="3568616" y="0"/>
                </a:lnTo>
                <a:lnTo>
                  <a:pt x="3568616" y="3568616"/>
                </a:lnTo>
                <a:lnTo>
                  <a:pt x="0" y="3568616"/>
                </a:lnTo>
                <a:lnTo>
                  <a:pt x="0" y="0"/>
                </a:lnTo>
                <a:close/>
              </a:path>
            </a:pathLst>
          </a:custGeom>
          <a:blipFill>
            <a:blip r:embed="rId5">
              <a:extLst>
                <a:ext uri="{96DAC541-7B7A-43D3-8B79-37D633B846F1}">
                  <asvg:svgBlip xmlns="" xmlns:asvg="http://schemas.microsoft.com/office/drawing/2016/SVG/main" r:embed="rId6"/>
                </a:ext>
              </a:extLst>
            </a:blip>
            <a:stretch>
              <a:fillRect/>
            </a:stretch>
          </a:blipFill>
        </p:spPr>
      </p:sp>
      <p:pic>
        <p:nvPicPr>
          <p:cNvPr id="8" name="Picture 7"/>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887199" y="2279268"/>
            <a:ext cx="6100981" cy="7776022"/>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6000">
        <p15:prstTrans prst="curtains"/>
      </p:transition>
    </mc:Choice>
    <mc:Fallback>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8518" b="-68518"/>
            </a:stretch>
          </a:blipFill>
        </p:spPr>
      </p:sp>
      <p:sp>
        <p:nvSpPr>
          <p:cNvPr id="6" name="Freeform 6"/>
          <p:cNvSpPr/>
          <p:nvPr/>
        </p:nvSpPr>
        <p:spPr>
          <a:xfrm>
            <a:off x="16565593" y="1329751"/>
            <a:ext cx="399928" cy="385385"/>
          </a:xfrm>
          <a:custGeom>
            <a:avLst/>
            <a:gdLst/>
            <a:ahLst/>
            <a:cxnLst/>
            <a:rect l="l" t="t" r="r" b="b"/>
            <a:pathLst>
              <a:path w="399928" h="385385">
                <a:moveTo>
                  <a:pt x="0" y="0"/>
                </a:moveTo>
                <a:lnTo>
                  <a:pt x="399927" y="0"/>
                </a:lnTo>
                <a:lnTo>
                  <a:pt x="399927" y="385385"/>
                </a:lnTo>
                <a:lnTo>
                  <a:pt x="0" y="385385"/>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24" name="TextBox 24"/>
          <p:cNvSpPr txBox="1"/>
          <p:nvPr/>
        </p:nvSpPr>
        <p:spPr>
          <a:xfrm>
            <a:off x="9579866" y="3720608"/>
            <a:ext cx="7243569" cy="720658"/>
          </a:xfrm>
          <a:prstGeom prst="rect">
            <a:avLst/>
          </a:prstGeom>
        </p:spPr>
        <p:txBody>
          <a:bodyPr lIns="0" tIns="0" rIns="0" bIns="0" rtlCol="0" anchor="t">
            <a:spAutoFit/>
          </a:bodyPr>
          <a:lstStyle/>
          <a:p>
            <a:pPr algn="l">
              <a:lnSpc>
                <a:spcPts val="2800"/>
              </a:lnSpc>
              <a:spcBef>
                <a:spcPct val="0"/>
              </a:spcBef>
            </a:pPr>
            <a:r>
              <a:rPr lang="en-US" sz="2000">
                <a:solidFill>
                  <a:srgbClr val="131D44"/>
                </a:solidFill>
                <a:latin typeface="Poppins"/>
                <a:ea typeface="Poppins"/>
                <a:cs typeface="Poppins"/>
                <a:sym typeface="Poppins"/>
              </a:rPr>
              <a:t>Lorem ipsum dolor sit amet, consectetur adipiscing elit, sed do eiusmod tempor incididunt ut labore et aliqua.</a:t>
            </a:r>
          </a:p>
        </p:txBody>
      </p:sp>
      <p:sp>
        <p:nvSpPr>
          <p:cNvPr id="25" name="TextBox 25"/>
          <p:cNvSpPr txBox="1"/>
          <p:nvPr/>
        </p:nvSpPr>
        <p:spPr>
          <a:xfrm>
            <a:off x="9579866" y="5998460"/>
            <a:ext cx="7243569" cy="720658"/>
          </a:xfrm>
          <a:prstGeom prst="rect">
            <a:avLst/>
          </a:prstGeom>
        </p:spPr>
        <p:txBody>
          <a:bodyPr lIns="0" tIns="0" rIns="0" bIns="0" rtlCol="0" anchor="t">
            <a:spAutoFit/>
          </a:bodyPr>
          <a:lstStyle/>
          <a:p>
            <a:pPr algn="l">
              <a:lnSpc>
                <a:spcPts val="2800"/>
              </a:lnSpc>
              <a:spcBef>
                <a:spcPct val="0"/>
              </a:spcBef>
            </a:pPr>
            <a:r>
              <a:rPr lang="en-US" sz="2000">
                <a:solidFill>
                  <a:srgbClr val="131D44"/>
                </a:solidFill>
                <a:latin typeface="Poppins"/>
                <a:ea typeface="Poppins"/>
                <a:cs typeface="Poppins"/>
                <a:sym typeface="Poppins"/>
              </a:rPr>
              <a:t>Lorem ipsum dolor sit amet, consectetur adipiscing elit, sed do eiusmod tempor incididunt ut labore et aliqua.</a:t>
            </a:r>
          </a:p>
        </p:txBody>
      </p:sp>
      <p:sp>
        <p:nvSpPr>
          <p:cNvPr id="26" name="TextBox 26"/>
          <p:cNvSpPr txBox="1"/>
          <p:nvPr/>
        </p:nvSpPr>
        <p:spPr>
          <a:xfrm>
            <a:off x="9579866" y="8276312"/>
            <a:ext cx="7243569" cy="720658"/>
          </a:xfrm>
          <a:prstGeom prst="rect">
            <a:avLst/>
          </a:prstGeom>
        </p:spPr>
        <p:txBody>
          <a:bodyPr lIns="0" tIns="0" rIns="0" bIns="0" rtlCol="0" anchor="t">
            <a:spAutoFit/>
          </a:bodyPr>
          <a:lstStyle/>
          <a:p>
            <a:pPr algn="l">
              <a:lnSpc>
                <a:spcPts val="2800"/>
              </a:lnSpc>
              <a:spcBef>
                <a:spcPct val="0"/>
              </a:spcBef>
            </a:pPr>
            <a:r>
              <a:rPr lang="en-US" sz="2000">
                <a:solidFill>
                  <a:srgbClr val="131D44"/>
                </a:solidFill>
                <a:latin typeface="Poppins"/>
                <a:ea typeface="Poppins"/>
                <a:cs typeface="Poppins"/>
                <a:sym typeface="Poppins"/>
              </a:rPr>
              <a:t>Lorem ipsum dolor sit amet, consectetur adipiscing elit, sed do eiusmod tempor incididunt ut labore et aliqua.</a:t>
            </a:r>
          </a:p>
        </p:txBody>
      </p:sp>
      <p:pic>
        <p:nvPicPr>
          <p:cNvPr id="27" name="Picture 2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3531" y="0"/>
            <a:ext cx="18144899" cy="10287000"/>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8518" b="-68518"/>
            </a:stretch>
          </a:blipFill>
        </p:spPr>
      </p:sp>
      <p:sp>
        <p:nvSpPr>
          <p:cNvPr id="6" name="Freeform 6"/>
          <p:cNvSpPr/>
          <p:nvPr/>
        </p:nvSpPr>
        <p:spPr>
          <a:xfrm>
            <a:off x="16565593" y="1329751"/>
            <a:ext cx="399928" cy="385385"/>
          </a:xfrm>
          <a:custGeom>
            <a:avLst/>
            <a:gdLst/>
            <a:ahLst/>
            <a:cxnLst/>
            <a:rect l="l" t="t" r="r" b="b"/>
            <a:pathLst>
              <a:path w="399928" h="385385">
                <a:moveTo>
                  <a:pt x="0" y="0"/>
                </a:moveTo>
                <a:lnTo>
                  <a:pt x="399927" y="0"/>
                </a:lnTo>
                <a:lnTo>
                  <a:pt x="399927" y="385385"/>
                </a:lnTo>
                <a:lnTo>
                  <a:pt x="0" y="385385"/>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24" name="TextBox 24"/>
          <p:cNvSpPr txBox="1"/>
          <p:nvPr/>
        </p:nvSpPr>
        <p:spPr>
          <a:xfrm>
            <a:off x="9579866" y="3720608"/>
            <a:ext cx="7243569" cy="720658"/>
          </a:xfrm>
          <a:prstGeom prst="rect">
            <a:avLst/>
          </a:prstGeom>
        </p:spPr>
        <p:txBody>
          <a:bodyPr lIns="0" tIns="0" rIns="0" bIns="0" rtlCol="0" anchor="t">
            <a:spAutoFit/>
          </a:bodyPr>
          <a:lstStyle/>
          <a:p>
            <a:pPr algn="l">
              <a:lnSpc>
                <a:spcPts val="2800"/>
              </a:lnSpc>
              <a:spcBef>
                <a:spcPct val="0"/>
              </a:spcBef>
            </a:pPr>
            <a:r>
              <a:rPr lang="en-US" sz="2000">
                <a:solidFill>
                  <a:srgbClr val="131D44"/>
                </a:solidFill>
                <a:latin typeface="Poppins"/>
                <a:ea typeface="Poppins"/>
                <a:cs typeface="Poppins"/>
                <a:sym typeface="Poppins"/>
              </a:rPr>
              <a:t>Lorem ipsum dolor sit amet, consectetur adipiscing elit, sed do eiusmod tempor incididunt ut labore et aliqua.</a:t>
            </a:r>
          </a:p>
        </p:txBody>
      </p:sp>
      <p:sp>
        <p:nvSpPr>
          <p:cNvPr id="25" name="TextBox 25"/>
          <p:cNvSpPr txBox="1"/>
          <p:nvPr/>
        </p:nvSpPr>
        <p:spPr>
          <a:xfrm>
            <a:off x="9579866" y="5998460"/>
            <a:ext cx="7243569" cy="720658"/>
          </a:xfrm>
          <a:prstGeom prst="rect">
            <a:avLst/>
          </a:prstGeom>
        </p:spPr>
        <p:txBody>
          <a:bodyPr lIns="0" tIns="0" rIns="0" bIns="0" rtlCol="0" anchor="t">
            <a:spAutoFit/>
          </a:bodyPr>
          <a:lstStyle/>
          <a:p>
            <a:pPr algn="l">
              <a:lnSpc>
                <a:spcPts val="2800"/>
              </a:lnSpc>
              <a:spcBef>
                <a:spcPct val="0"/>
              </a:spcBef>
            </a:pPr>
            <a:r>
              <a:rPr lang="en-US" sz="2000">
                <a:solidFill>
                  <a:srgbClr val="131D44"/>
                </a:solidFill>
                <a:latin typeface="Poppins"/>
                <a:ea typeface="Poppins"/>
                <a:cs typeface="Poppins"/>
                <a:sym typeface="Poppins"/>
              </a:rPr>
              <a:t>Lorem ipsum dolor sit amet, consectetur adipiscing elit, sed do eiusmod tempor incididunt ut labore et aliqua.</a:t>
            </a:r>
          </a:p>
        </p:txBody>
      </p:sp>
      <p:sp>
        <p:nvSpPr>
          <p:cNvPr id="26" name="TextBox 26"/>
          <p:cNvSpPr txBox="1"/>
          <p:nvPr/>
        </p:nvSpPr>
        <p:spPr>
          <a:xfrm>
            <a:off x="9579866" y="8276312"/>
            <a:ext cx="7243569" cy="720658"/>
          </a:xfrm>
          <a:prstGeom prst="rect">
            <a:avLst/>
          </a:prstGeom>
        </p:spPr>
        <p:txBody>
          <a:bodyPr lIns="0" tIns="0" rIns="0" bIns="0" rtlCol="0" anchor="t">
            <a:spAutoFit/>
          </a:bodyPr>
          <a:lstStyle/>
          <a:p>
            <a:pPr algn="l">
              <a:lnSpc>
                <a:spcPts val="2800"/>
              </a:lnSpc>
              <a:spcBef>
                <a:spcPct val="0"/>
              </a:spcBef>
            </a:pPr>
            <a:r>
              <a:rPr lang="en-US" sz="2000">
                <a:solidFill>
                  <a:srgbClr val="131D44"/>
                </a:solidFill>
                <a:latin typeface="Poppins"/>
                <a:ea typeface="Poppins"/>
                <a:cs typeface="Poppins"/>
                <a:sym typeface="Poppins"/>
              </a:rPr>
              <a:t>Lorem ipsum dolor sit amet, consectetur adipiscing elit, sed do eiusmod tempor incididunt ut labore et aliqua.</a:t>
            </a:r>
          </a:p>
        </p:txBody>
      </p:sp>
      <p:pic>
        <p:nvPicPr>
          <p:cNvPr id="3" name="Picture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2400" y="207010"/>
            <a:ext cx="17919174" cy="9965690"/>
          </a:xfrm>
          <a:prstGeom prst="rect">
            <a:avLst/>
          </a:prstGeom>
        </p:spPr>
      </p:pic>
    </p:spTree>
    <p:extLst>
      <p:ext uri="{BB962C8B-B14F-4D97-AF65-F5344CB8AC3E}">
        <p14:creationId xmlns:p14="http://schemas.microsoft.com/office/powerpoint/2010/main" val="4263969356"/>
      </p:ext>
    </p:extLst>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8518" b="-68518"/>
            </a:stretch>
          </a:blipFill>
        </p:spPr>
      </p:sp>
      <p:sp>
        <p:nvSpPr>
          <p:cNvPr id="6" name="Freeform 6"/>
          <p:cNvSpPr/>
          <p:nvPr/>
        </p:nvSpPr>
        <p:spPr>
          <a:xfrm>
            <a:off x="16565593" y="1329751"/>
            <a:ext cx="399928" cy="385385"/>
          </a:xfrm>
          <a:custGeom>
            <a:avLst/>
            <a:gdLst/>
            <a:ahLst/>
            <a:cxnLst/>
            <a:rect l="l" t="t" r="r" b="b"/>
            <a:pathLst>
              <a:path w="399928" h="385385">
                <a:moveTo>
                  <a:pt x="0" y="0"/>
                </a:moveTo>
                <a:lnTo>
                  <a:pt x="399927" y="0"/>
                </a:lnTo>
                <a:lnTo>
                  <a:pt x="399927" y="385385"/>
                </a:lnTo>
                <a:lnTo>
                  <a:pt x="0" y="385385"/>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24" name="TextBox 24"/>
          <p:cNvSpPr txBox="1"/>
          <p:nvPr/>
        </p:nvSpPr>
        <p:spPr>
          <a:xfrm>
            <a:off x="9579866" y="3720608"/>
            <a:ext cx="7243569" cy="720658"/>
          </a:xfrm>
          <a:prstGeom prst="rect">
            <a:avLst/>
          </a:prstGeom>
        </p:spPr>
        <p:txBody>
          <a:bodyPr lIns="0" tIns="0" rIns="0" bIns="0" rtlCol="0" anchor="t">
            <a:spAutoFit/>
          </a:bodyPr>
          <a:lstStyle/>
          <a:p>
            <a:pPr algn="l">
              <a:lnSpc>
                <a:spcPts val="2800"/>
              </a:lnSpc>
              <a:spcBef>
                <a:spcPct val="0"/>
              </a:spcBef>
            </a:pPr>
            <a:r>
              <a:rPr lang="en-US" sz="2000">
                <a:solidFill>
                  <a:srgbClr val="131D44"/>
                </a:solidFill>
                <a:latin typeface="Poppins"/>
                <a:ea typeface="Poppins"/>
                <a:cs typeface="Poppins"/>
                <a:sym typeface="Poppins"/>
              </a:rPr>
              <a:t>Lorem ipsum dolor sit amet, consectetur adipiscing elit, sed do eiusmod tempor incididunt ut labore et aliqua.</a:t>
            </a:r>
          </a:p>
        </p:txBody>
      </p:sp>
      <p:sp>
        <p:nvSpPr>
          <p:cNvPr id="25" name="TextBox 25"/>
          <p:cNvSpPr txBox="1"/>
          <p:nvPr/>
        </p:nvSpPr>
        <p:spPr>
          <a:xfrm>
            <a:off x="9579866" y="5998460"/>
            <a:ext cx="7243569" cy="720658"/>
          </a:xfrm>
          <a:prstGeom prst="rect">
            <a:avLst/>
          </a:prstGeom>
        </p:spPr>
        <p:txBody>
          <a:bodyPr lIns="0" tIns="0" rIns="0" bIns="0" rtlCol="0" anchor="t">
            <a:spAutoFit/>
          </a:bodyPr>
          <a:lstStyle/>
          <a:p>
            <a:pPr algn="l">
              <a:lnSpc>
                <a:spcPts val="2800"/>
              </a:lnSpc>
              <a:spcBef>
                <a:spcPct val="0"/>
              </a:spcBef>
            </a:pPr>
            <a:r>
              <a:rPr lang="en-US" sz="2000">
                <a:solidFill>
                  <a:srgbClr val="131D44"/>
                </a:solidFill>
                <a:latin typeface="Poppins"/>
                <a:ea typeface="Poppins"/>
                <a:cs typeface="Poppins"/>
                <a:sym typeface="Poppins"/>
              </a:rPr>
              <a:t>Lorem ipsum dolor sit amet, consectetur adipiscing elit, sed do eiusmod tempor incididunt ut labore et aliqua.</a:t>
            </a:r>
          </a:p>
        </p:txBody>
      </p:sp>
      <p:sp>
        <p:nvSpPr>
          <p:cNvPr id="26" name="TextBox 26"/>
          <p:cNvSpPr txBox="1"/>
          <p:nvPr/>
        </p:nvSpPr>
        <p:spPr>
          <a:xfrm>
            <a:off x="9579866" y="8276312"/>
            <a:ext cx="7243569" cy="720658"/>
          </a:xfrm>
          <a:prstGeom prst="rect">
            <a:avLst/>
          </a:prstGeom>
        </p:spPr>
        <p:txBody>
          <a:bodyPr lIns="0" tIns="0" rIns="0" bIns="0" rtlCol="0" anchor="t">
            <a:spAutoFit/>
          </a:bodyPr>
          <a:lstStyle/>
          <a:p>
            <a:pPr algn="l">
              <a:lnSpc>
                <a:spcPts val="2800"/>
              </a:lnSpc>
              <a:spcBef>
                <a:spcPct val="0"/>
              </a:spcBef>
            </a:pPr>
            <a:r>
              <a:rPr lang="en-US" sz="2000">
                <a:solidFill>
                  <a:srgbClr val="131D44"/>
                </a:solidFill>
                <a:latin typeface="Poppins"/>
                <a:ea typeface="Poppins"/>
                <a:cs typeface="Poppins"/>
                <a:sym typeface="Poppins"/>
              </a:rPr>
              <a:t>Lorem ipsum dolor sit amet, consectetur adipiscing elit, sed do eiusmod tempor incididunt ut labore et aliqua.</a:t>
            </a:r>
          </a:p>
        </p:txBody>
      </p:sp>
      <p:pic>
        <p:nvPicPr>
          <p:cNvPr id="3" name="Picture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6200" y="48045"/>
            <a:ext cx="17983200" cy="10105273"/>
          </a:xfrm>
          <a:prstGeom prst="rect">
            <a:avLst/>
          </a:prstGeom>
        </p:spPr>
      </p:pic>
    </p:spTree>
    <p:extLst>
      <p:ext uri="{BB962C8B-B14F-4D97-AF65-F5344CB8AC3E}">
        <p14:creationId xmlns:p14="http://schemas.microsoft.com/office/powerpoint/2010/main" val="2274359986"/>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drape"/>
      </p:transition>
    </mc:Choice>
    <mc:Fallback>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8518" b="-68518"/>
            </a:stretch>
          </a:blipFill>
        </p:spPr>
      </p:sp>
      <p:sp>
        <p:nvSpPr>
          <p:cNvPr id="6" name="Freeform 6"/>
          <p:cNvSpPr/>
          <p:nvPr/>
        </p:nvSpPr>
        <p:spPr>
          <a:xfrm>
            <a:off x="16565593" y="1329751"/>
            <a:ext cx="399928" cy="385385"/>
          </a:xfrm>
          <a:custGeom>
            <a:avLst/>
            <a:gdLst/>
            <a:ahLst/>
            <a:cxnLst/>
            <a:rect l="l" t="t" r="r" b="b"/>
            <a:pathLst>
              <a:path w="399928" h="385385">
                <a:moveTo>
                  <a:pt x="0" y="0"/>
                </a:moveTo>
                <a:lnTo>
                  <a:pt x="399927" y="0"/>
                </a:lnTo>
                <a:lnTo>
                  <a:pt x="399927" y="385385"/>
                </a:lnTo>
                <a:lnTo>
                  <a:pt x="0" y="385385"/>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24" name="TextBox 24"/>
          <p:cNvSpPr txBox="1"/>
          <p:nvPr/>
        </p:nvSpPr>
        <p:spPr>
          <a:xfrm>
            <a:off x="9579866" y="3720608"/>
            <a:ext cx="7243569" cy="720658"/>
          </a:xfrm>
          <a:prstGeom prst="rect">
            <a:avLst/>
          </a:prstGeom>
        </p:spPr>
        <p:txBody>
          <a:bodyPr lIns="0" tIns="0" rIns="0" bIns="0" rtlCol="0" anchor="t">
            <a:spAutoFit/>
          </a:bodyPr>
          <a:lstStyle/>
          <a:p>
            <a:pPr algn="l">
              <a:lnSpc>
                <a:spcPts val="2800"/>
              </a:lnSpc>
              <a:spcBef>
                <a:spcPct val="0"/>
              </a:spcBef>
            </a:pPr>
            <a:r>
              <a:rPr lang="en-US" sz="2000">
                <a:solidFill>
                  <a:srgbClr val="131D44"/>
                </a:solidFill>
                <a:latin typeface="Poppins"/>
                <a:ea typeface="Poppins"/>
                <a:cs typeface="Poppins"/>
                <a:sym typeface="Poppins"/>
              </a:rPr>
              <a:t>Lorem ipsum dolor sit amet, consectetur adipiscing elit, sed do eiusmod tempor incididunt ut labore et aliqua.</a:t>
            </a:r>
          </a:p>
        </p:txBody>
      </p:sp>
      <p:sp>
        <p:nvSpPr>
          <p:cNvPr id="25" name="TextBox 25"/>
          <p:cNvSpPr txBox="1"/>
          <p:nvPr/>
        </p:nvSpPr>
        <p:spPr>
          <a:xfrm>
            <a:off x="9579866" y="5998460"/>
            <a:ext cx="7243569" cy="720658"/>
          </a:xfrm>
          <a:prstGeom prst="rect">
            <a:avLst/>
          </a:prstGeom>
        </p:spPr>
        <p:txBody>
          <a:bodyPr lIns="0" tIns="0" rIns="0" bIns="0" rtlCol="0" anchor="t">
            <a:spAutoFit/>
          </a:bodyPr>
          <a:lstStyle/>
          <a:p>
            <a:pPr algn="l">
              <a:lnSpc>
                <a:spcPts val="2800"/>
              </a:lnSpc>
              <a:spcBef>
                <a:spcPct val="0"/>
              </a:spcBef>
            </a:pPr>
            <a:r>
              <a:rPr lang="en-US" sz="2000">
                <a:solidFill>
                  <a:srgbClr val="131D44"/>
                </a:solidFill>
                <a:latin typeface="Poppins"/>
                <a:ea typeface="Poppins"/>
                <a:cs typeface="Poppins"/>
                <a:sym typeface="Poppins"/>
              </a:rPr>
              <a:t>Lorem ipsum dolor sit amet, consectetur adipiscing elit, sed do eiusmod tempor incididunt ut labore et aliqua.</a:t>
            </a:r>
          </a:p>
        </p:txBody>
      </p:sp>
      <p:sp>
        <p:nvSpPr>
          <p:cNvPr id="26" name="TextBox 26"/>
          <p:cNvSpPr txBox="1"/>
          <p:nvPr/>
        </p:nvSpPr>
        <p:spPr>
          <a:xfrm>
            <a:off x="9579866" y="8276312"/>
            <a:ext cx="7243569" cy="720658"/>
          </a:xfrm>
          <a:prstGeom prst="rect">
            <a:avLst/>
          </a:prstGeom>
        </p:spPr>
        <p:txBody>
          <a:bodyPr lIns="0" tIns="0" rIns="0" bIns="0" rtlCol="0" anchor="t">
            <a:spAutoFit/>
          </a:bodyPr>
          <a:lstStyle/>
          <a:p>
            <a:pPr algn="l">
              <a:lnSpc>
                <a:spcPts val="2800"/>
              </a:lnSpc>
              <a:spcBef>
                <a:spcPct val="0"/>
              </a:spcBef>
            </a:pPr>
            <a:r>
              <a:rPr lang="en-US" sz="2000">
                <a:solidFill>
                  <a:srgbClr val="131D44"/>
                </a:solidFill>
                <a:latin typeface="Poppins"/>
                <a:ea typeface="Poppins"/>
                <a:cs typeface="Poppins"/>
                <a:sym typeface="Poppins"/>
              </a:rPr>
              <a:t>Lorem ipsum dolor sit amet, consectetur adipiscing elit, sed do eiusmod tempor incididunt ut labore et aliqua.</a:t>
            </a:r>
          </a:p>
        </p:txBody>
      </p:sp>
      <p:pic>
        <p:nvPicPr>
          <p:cNvPr id="4" name="Picture 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19903"/>
            <a:ext cx="18288000" cy="10271785"/>
          </a:xfrm>
          <a:prstGeom prst="rect">
            <a:avLst/>
          </a:prstGeom>
        </p:spPr>
      </p:pic>
    </p:spTree>
    <p:extLst>
      <p:ext uri="{BB962C8B-B14F-4D97-AF65-F5344CB8AC3E}">
        <p14:creationId xmlns:p14="http://schemas.microsoft.com/office/powerpoint/2010/main" val="2982340813"/>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1905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8518" b="-68518"/>
            </a:stretch>
          </a:blipFill>
        </p:spPr>
      </p:sp>
      <p:grpSp>
        <p:nvGrpSpPr>
          <p:cNvPr id="3" name="Group 3"/>
          <p:cNvGrpSpPr/>
          <p:nvPr/>
        </p:nvGrpSpPr>
        <p:grpSpPr>
          <a:xfrm>
            <a:off x="16271813" y="1028700"/>
            <a:ext cx="987487" cy="987487"/>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5" name="TextBox 5"/>
            <p:cNvSpPr txBox="1"/>
            <p:nvPr/>
          </p:nvSpPr>
          <p:spPr>
            <a:xfrm>
              <a:off x="76200" y="0"/>
              <a:ext cx="660400" cy="736600"/>
            </a:xfrm>
            <a:prstGeom prst="rect">
              <a:avLst/>
            </a:prstGeom>
          </p:spPr>
          <p:txBody>
            <a:bodyPr lIns="50800" tIns="50800" rIns="50800" bIns="50800" rtlCol="0" anchor="ctr"/>
            <a:lstStyle/>
            <a:p>
              <a:pPr algn="ctr">
                <a:lnSpc>
                  <a:spcPts val="3500"/>
                </a:lnSpc>
              </a:pPr>
              <a:endParaRPr/>
            </a:p>
          </p:txBody>
        </p:sp>
      </p:grpSp>
      <p:sp>
        <p:nvSpPr>
          <p:cNvPr id="6" name="Freeform 6"/>
          <p:cNvSpPr/>
          <p:nvPr/>
        </p:nvSpPr>
        <p:spPr>
          <a:xfrm>
            <a:off x="16565593" y="1329751"/>
            <a:ext cx="399928" cy="385385"/>
          </a:xfrm>
          <a:custGeom>
            <a:avLst/>
            <a:gdLst/>
            <a:ahLst/>
            <a:cxnLst/>
            <a:rect l="l" t="t" r="r" b="b"/>
            <a:pathLst>
              <a:path w="399928" h="385385">
                <a:moveTo>
                  <a:pt x="0" y="0"/>
                </a:moveTo>
                <a:lnTo>
                  <a:pt x="399927" y="0"/>
                </a:lnTo>
                <a:lnTo>
                  <a:pt x="399927" y="385385"/>
                </a:lnTo>
                <a:lnTo>
                  <a:pt x="0" y="385385"/>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7" name="TextBox 7"/>
          <p:cNvSpPr txBox="1"/>
          <p:nvPr/>
        </p:nvSpPr>
        <p:spPr>
          <a:xfrm>
            <a:off x="2714232" y="840617"/>
            <a:ext cx="8307328" cy="1166986"/>
          </a:xfrm>
          <a:prstGeom prst="rect">
            <a:avLst/>
          </a:prstGeom>
        </p:spPr>
        <p:txBody>
          <a:bodyPr lIns="0" tIns="0" rIns="0" bIns="0" rtlCol="0" anchor="t">
            <a:spAutoFit/>
          </a:bodyPr>
          <a:lstStyle/>
          <a:p>
            <a:pPr>
              <a:lnSpc>
                <a:spcPts val="9100"/>
              </a:lnSpc>
              <a:spcBef>
                <a:spcPct val="0"/>
              </a:spcBef>
            </a:pPr>
            <a:r>
              <a:rPr lang="en-US" sz="7200" b="1" dirty="0" smtClean="0">
                <a:solidFill>
                  <a:srgbClr val="FFFFFF"/>
                </a:solidFill>
                <a:latin typeface="Poppins Bold"/>
                <a:ea typeface="Poppins Bold"/>
                <a:cs typeface="Poppins Bold"/>
                <a:sym typeface="Poppins Bold"/>
              </a:rPr>
              <a:t>Conclusion</a:t>
            </a:r>
            <a:endParaRPr lang="en-US" sz="7200" b="1" dirty="0">
              <a:solidFill>
                <a:srgbClr val="FFFFFF"/>
              </a:solidFill>
              <a:latin typeface="Poppins Bold"/>
              <a:ea typeface="Poppins Bold"/>
              <a:cs typeface="Poppins Bold"/>
              <a:sym typeface="Poppins Bold"/>
            </a:endParaRPr>
          </a:p>
        </p:txBody>
      </p:sp>
      <p:sp>
        <p:nvSpPr>
          <p:cNvPr id="8" name="Freeform 8"/>
          <p:cNvSpPr/>
          <p:nvPr/>
        </p:nvSpPr>
        <p:spPr>
          <a:xfrm>
            <a:off x="11019613" y="-1726984"/>
            <a:ext cx="3568616" cy="3568616"/>
          </a:xfrm>
          <a:custGeom>
            <a:avLst/>
            <a:gdLst/>
            <a:ahLst/>
            <a:cxnLst/>
            <a:rect l="l" t="t" r="r" b="b"/>
            <a:pathLst>
              <a:path w="3568616" h="3568616">
                <a:moveTo>
                  <a:pt x="0" y="0"/>
                </a:moveTo>
                <a:lnTo>
                  <a:pt x="3568616" y="0"/>
                </a:lnTo>
                <a:lnTo>
                  <a:pt x="3568616" y="3568616"/>
                </a:lnTo>
                <a:lnTo>
                  <a:pt x="0" y="3568616"/>
                </a:lnTo>
                <a:lnTo>
                  <a:pt x="0" y="0"/>
                </a:lnTo>
                <a:close/>
              </a:path>
            </a:pathLst>
          </a:custGeom>
          <a:blipFill>
            <a:blip r:embed="rId5">
              <a:extLst>
                <a:ext uri="{96DAC541-7B7A-43D3-8B79-37D633B846F1}">
                  <asvg:svgBlip xmlns="" xmlns:asvg="http://schemas.microsoft.com/office/drawing/2016/SVG/main" r:embed="rId6"/>
                </a:ext>
              </a:extLst>
            </a:blip>
            <a:stretch>
              <a:fillRect/>
            </a:stretch>
          </a:blipFill>
        </p:spPr>
      </p:sp>
      <p:grpSp>
        <p:nvGrpSpPr>
          <p:cNvPr id="9" name="Group 9"/>
          <p:cNvGrpSpPr/>
          <p:nvPr/>
        </p:nvGrpSpPr>
        <p:grpSpPr>
          <a:xfrm>
            <a:off x="206820" y="2680400"/>
            <a:ext cx="11430000" cy="7263699"/>
            <a:chOff x="0" y="0"/>
            <a:chExt cx="2041378" cy="607103"/>
          </a:xfrm>
        </p:grpSpPr>
        <p:sp>
          <p:nvSpPr>
            <p:cNvPr id="10" name="Freeform 10"/>
            <p:cNvSpPr/>
            <p:nvPr/>
          </p:nvSpPr>
          <p:spPr>
            <a:xfrm>
              <a:off x="0" y="0"/>
              <a:ext cx="2041378" cy="607103"/>
            </a:xfrm>
            <a:custGeom>
              <a:avLst/>
              <a:gdLst/>
              <a:ahLst/>
              <a:cxnLst/>
              <a:rect l="l" t="t" r="r" b="b"/>
              <a:pathLst>
                <a:path w="2041378" h="607103">
                  <a:moveTo>
                    <a:pt x="29965" y="0"/>
                  </a:moveTo>
                  <a:lnTo>
                    <a:pt x="2011413" y="0"/>
                  </a:lnTo>
                  <a:cubicBezTo>
                    <a:pt x="2019360" y="0"/>
                    <a:pt x="2026982" y="3157"/>
                    <a:pt x="2032602" y="8777"/>
                  </a:cubicBezTo>
                  <a:cubicBezTo>
                    <a:pt x="2038222" y="14396"/>
                    <a:pt x="2041378" y="22018"/>
                    <a:pt x="2041378" y="29965"/>
                  </a:cubicBezTo>
                  <a:lnTo>
                    <a:pt x="2041378" y="577138"/>
                  </a:lnTo>
                  <a:cubicBezTo>
                    <a:pt x="2041378" y="593687"/>
                    <a:pt x="2027962" y="607103"/>
                    <a:pt x="2011413" y="607103"/>
                  </a:cubicBezTo>
                  <a:lnTo>
                    <a:pt x="29965" y="607103"/>
                  </a:lnTo>
                  <a:cubicBezTo>
                    <a:pt x="13416" y="607103"/>
                    <a:pt x="0" y="593687"/>
                    <a:pt x="0" y="577138"/>
                  </a:cubicBezTo>
                  <a:lnTo>
                    <a:pt x="0" y="29965"/>
                  </a:lnTo>
                  <a:cubicBezTo>
                    <a:pt x="0" y="13416"/>
                    <a:pt x="13416" y="0"/>
                    <a:pt x="29965" y="0"/>
                  </a:cubicBezTo>
                  <a:close/>
                </a:path>
              </a:pathLst>
            </a:custGeom>
            <a:solidFill>
              <a:srgbClr val="FFFFFF"/>
            </a:solidFill>
          </p:spPr>
        </p:sp>
        <p:sp>
          <p:nvSpPr>
            <p:cNvPr id="11" name="TextBox 11"/>
            <p:cNvSpPr txBox="1"/>
            <p:nvPr/>
          </p:nvSpPr>
          <p:spPr>
            <a:xfrm>
              <a:off x="0" y="-76200"/>
              <a:ext cx="2041378" cy="683303"/>
            </a:xfrm>
            <a:prstGeom prst="rect">
              <a:avLst/>
            </a:prstGeom>
          </p:spPr>
          <p:txBody>
            <a:bodyPr lIns="50800" tIns="50800" rIns="50800" bIns="50800" rtlCol="0" anchor="ctr"/>
            <a:lstStyle/>
            <a:p>
              <a:pPr algn="ctr">
                <a:lnSpc>
                  <a:spcPts val="3500"/>
                </a:lnSpc>
              </a:pPr>
              <a:endParaRPr/>
            </a:p>
          </p:txBody>
        </p:sp>
      </p:grpSp>
      <p:sp>
        <p:nvSpPr>
          <p:cNvPr id="21" name="TextBox 21"/>
          <p:cNvSpPr txBox="1"/>
          <p:nvPr/>
        </p:nvSpPr>
        <p:spPr>
          <a:xfrm>
            <a:off x="1295400" y="4134758"/>
            <a:ext cx="9944323" cy="5834931"/>
          </a:xfrm>
          <a:prstGeom prst="rect">
            <a:avLst/>
          </a:prstGeom>
        </p:spPr>
        <p:txBody>
          <a:bodyPr wrap="square" lIns="0" tIns="0" rIns="0" bIns="0" rtlCol="0" anchor="t">
            <a:spAutoFit/>
          </a:bodyPr>
          <a:lstStyle/>
          <a:p>
            <a:pPr marL="342900" indent="-342900">
              <a:lnSpc>
                <a:spcPts val="3500"/>
              </a:lnSpc>
              <a:spcBef>
                <a:spcPct val="0"/>
              </a:spcBef>
              <a:buFont typeface="Wingdings" panose="05000000000000000000" pitchFamily="2" charset="2"/>
              <a:buChar char="q"/>
            </a:pPr>
            <a:r>
              <a:rPr lang="en-GB" sz="2500" b="1" dirty="0">
                <a:solidFill>
                  <a:srgbClr val="131D44"/>
                </a:solidFill>
                <a:latin typeface="Poppins Bold"/>
                <a:ea typeface="Poppins Bold"/>
                <a:cs typeface="Poppins Bold"/>
                <a:sym typeface="Poppins Bold"/>
              </a:rPr>
              <a:t>Women entrepreneurs are growing rapidly in the digital era</a:t>
            </a:r>
            <a:r>
              <a:rPr lang="en-GB" sz="2500" b="1" dirty="0" smtClean="0">
                <a:solidFill>
                  <a:srgbClr val="131D44"/>
                </a:solidFill>
                <a:latin typeface="Poppins Bold"/>
                <a:ea typeface="Poppins Bold"/>
                <a:cs typeface="Poppins Bold"/>
                <a:sym typeface="Poppins Bold"/>
              </a:rPr>
              <a:t>.</a:t>
            </a:r>
          </a:p>
          <a:p>
            <a:pPr marL="342900" indent="-342900">
              <a:lnSpc>
                <a:spcPts val="3500"/>
              </a:lnSpc>
              <a:spcBef>
                <a:spcPct val="0"/>
              </a:spcBef>
              <a:buFont typeface="Wingdings" panose="05000000000000000000" pitchFamily="2" charset="2"/>
              <a:buChar char="q"/>
            </a:pPr>
            <a:endParaRPr lang="en-GB" sz="2500" b="1" dirty="0">
              <a:solidFill>
                <a:srgbClr val="131D44"/>
              </a:solidFill>
              <a:latin typeface="Poppins Bold"/>
              <a:ea typeface="Poppins Bold"/>
              <a:cs typeface="Poppins Bold"/>
              <a:sym typeface="Poppins Bold"/>
            </a:endParaRPr>
          </a:p>
          <a:p>
            <a:pPr marL="342900" indent="-342900">
              <a:lnSpc>
                <a:spcPts val="3500"/>
              </a:lnSpc>
              <a:spcBef>
                <a:spcPct val="0"/>
              </a:spcBef>
              <a:buFont typeface="Wingdings" panose="05000000000000000000" pitchFamily="2" charset="2"/>
              <a:buChar char="q"/>
            </a:pPr>
            <a:r>
              <a:rPr lang="en-GB" sz="2500" b="1" dirty="0">
                <a:solidFill>
                  <a:srgbClr val="131D44"/>
                </a:solidFill>
                <a:latin typeface="Poppins Bold"/>
                <a:ea typeface="Poppins Bold"/>
                <a:cs typeface="Poppins Bold"/>
                <a:sym typeface="Poppins Bold"/>
              </a:rPr>
              <a:t>Technology has made it easier for women to start and manage businesses</a:t>
            </a:r>
            <a:r>
              <a:rPr lang="en-GB" sz="2500" b="1" dirty="0" smtClean="0">
                <a:solidFill>
                  <a:srgbClr val="131D44"/>
                </a:solidFill>
                <a:latin typeface="Poppins Bold"/>
                <a:ea typeface="Poppins Bold"/>
                <a:cs typeface="Poppins Bold"/>
                <a:sym typeface="Poppins Bold"/>
              </a:rPr>
              <a:t>.</a:t>
            </a:r>
          </a:p>
          <a:p>
            <a:pPr marL="342900" indent="-342900">
              <a:lnSpc>
                <a:spcPts val="3500"/>
              </a:lnSpc>
              <a:spcBef>
                <a:spcPct val="0"/>
              </a:spcBef>
              <a:buFont typeface="Wingdings" panose="05000000000000000000" pitchFamily="2" charset="2"/>
              <a:buChar char="q"/>
            </a:pPr>
            <a:endParaRPr lang="en-GB" sz="2500" b="1" dirty="0">
              <a:solidFill>
                <a:srgbClr val="131D44"/>
              </a:solidFill>
              <a:latin typeface="Poppins Bold"/>
              <a:ea typeface="Poppins Bold"/>
              <a:cs typeface="Poppins Bold"/>
              <a:sym typeface="Poppins Bold"/>
            </a:endParaRPr>
          </a:p>
          <a:p>
            <a:pPr marL="342900" indent="-342900">
              <a:lnSpc>
                <a:spcPts val="3500"/>
              </a:lnSpc>
              <a:spcBef>
                <a:spcPct val="0"/>
              </a:spcBef>
              <a:buFont typeface="Wingdings" panose="05000000000000000000" pitchFamily="2" charset="2"/>
              <a:buChar char="q"/>
            </a:pPr>
            <a:r>
              <a:rPr lang="en-GB" sz="2500" b="1" dirty="0">
                <a:solidFill>
                  <a:srgbClr val="131D44"/>
                </a:solidFill>
                <a:latin typeface="Poppins Bold"/>
                <a:ea typeface="Poppins Bold"/>
                <a:cs typeface="Poppins Bold"/>
                <a:sym typeface="Poppins Bold"/>
              </a:rPr>
              <a:t>Despite challenges, women are achieving great success</a:t>
            </a:r>
            <a:r>
              <a:rPr lang="en-GB" sz="2500" b="1" dirty="0" smtClean="0">
                <a:solidFill>
                  <a:srgbClr val="131D44"/>
                </a:solidFill>
                <a:latin typeface="Poppins Bold"/>
                <a:ea typeface="Poppins Bold"/>
                <a:cs typeface="Poppins Bold"/>
                <a:sym typeface="Poppins Bold"/>
              </a:rPr>
              <a:t>.</a:t>
            </a:r>
          </a:p>
          <a:p>
            <a:pPr marL="342900" indent="-342900">
              <a:lnSpc>
                <a:spcPts val="3500"/>
              </a:lnSpc>
              <a:spcBef>
                <a:spcPct val="0"/>
              </a:spcBef>
              <a:buFont typeface="Wingdings" panose="05000000000000000000" pitchFamily="2" charset="2"/>
              <a:buChar char="q"/>
            </a:pPr>
            <a:endParaRPr lang="en-GB" sz="2500" b="1" dirty="0">
              <a:solidFill>
                <a:srgbClr val="131D44"/>
              </a:solidFill>
              <a:latin typeface="Poppins Bold"/>
              <a:ea typeface="Poppins Bold"/>
              <a:cs typeface="Poppins Bold"/>
              <a:sym typeface="Poppins Bold"/>
            </a:endParaRPr>
          </a:p>
          <a:p>
            <a:pPr marL="342900" indent="-342900">
              <a:lnSpc>
                <a:spcPts val="3500"/>
              </a:lnSpc>
              <a:spcBef>
                <a:spcPct val="0"/>
              </a:spcBef>
              <a:buFont typeface="Wingdings" panose="05000000000000000000" pitchFamily="2" charset="2"/>
              <a:buChar char="q"/>
            </a:pPr>
            <a:r>
              <a:rPr lang="en-GB" sz="2500" b="1" dirty="0">
                <a:solidFill>
                  <a:srgbClr val="131D44"/>
                </a:solidFill>
                <a:latin typeface="Poppins Bold"/>
                <a:ea typeface="Poppins Bold"/>
                <a:cs typeface="Poppins Bold"/>
                <a:sym typeface="Poppins Bold"/>
              </a:rPr>
              <a:t>Government support and digital tools are helping them grow</a:t>
            </a:r>
            <a:r>
              <a:rPr lang="en-GB" sz="2500" b="1" dirty="0" smtClean="0">
                <a:solidFill>
                  <a:srgbClr val="131D44"/>
                </a:solidFill>
                <a:latin typeface="Poppins Bold"/>
                <a:ea typeface="Poppins Bold"/>
                <a:cs typeface="Poppins Bold"/>
                <a:sym typeface="Poppins Bold"/>
              </a:rPr>
              <a:t>.</a:t>
            </a:r>
          </a:p>
          <a:p>
            <a:pPr marL="342900" indent="-342900">
              <a:lnSpc>
                <a:spcPts val="3500"/>
              </a:lnSpc>
              <a:spcBef>
                <a:spcPct val="0"/>
              </a:spcBef>
              <a:buFont typeface="Wingdings" panose="05000000000000000000" pitchFamily="2" charset="2"/>
              <a:buChar char="q"/>
            </a:pPr>
            <a:endParaRPr lang="en-GB" sz="2500" b="1" dirty="0" smtClean="0">
              <a:solidFill>
                <a:srgbClr val="131D44"/>
              </a:solidFill>
              <a:latin typeface="Poppins Bold"/>
              <a:ea typeface="Poppins Bold"/>
              <a:cs typeface="Poppins Bold"/>
              <a:sym typeface="Poppins Bold"/>
            </a:endParaRPr>
          </a:p>
          <a:p>
            <a:pPr>
              <a:lnSpc>
                <a:spcPts val="3500"/>
              </a:lnSpc>
              <a:spcBef>
                <a:spcPct val="0"/>
              </a:spcBef>
            </a:pPr>
            <a:endParaRPr lang="en-US" sz="2500" b="1" dirty="0">
              <a:solidFill>
                <a:srgbClr val="131D44"/>
              </a:solidFill>
              <a:latin typeface="Poppins Bold"/>
              <a:ea typeface="Poppins Bold"/>
              <a:cs typeface="Poppins Bold"/>
              <a:sym typeface="Poppins Bold"/>
            </a:endParaRPr>
          </a:p>
          <a:p>
            <a:pPr>
              <a:lnSpc>
                <a:spcPts val="3500"/>
              </a:lnSpc>
              <a:spcBef>
                <a:spcPct val="0"/>
              </a:spcBef>
            </a:pPr>
            <a:endParaRPr lang="en-US" sz="2500" b="1" dirty="0">
              <a:solidFill>
                <a:srgbClr val="131D44"/>
              </a:solidFill>
              <a:latin typeface="Poppins Bold"/>
              <a:ea typeface="Poppins Bold"/>
              <a:cs typeface="Poppins Bold"/>
              <a:sym typeface="Poppins Bold"/>
            </a:endParaRPr>
          </a:p>
        </p:txBody>
      </p:sp>
      <p:grpSp>
        <p:nvGrpSpPr>
          <p:cNvPr id="31" name="Group 37"/>
          <p:cNvGrpSpPr/>
          <p:nvPr/>
        </p:nvGrpSpPr>
        <p:grpSpPr>
          <a:xfrm>
            <a:off x="11829992" y="2680401"/>
            <a:ext cx="6229408" cy="7416099"/>
            <a:chOff x="0" y="0"/>
            <a:chExt cx="794182" cy="812800"/>
          </a:xfrm>
        </p:grpSpPr>
        <p:sp>
          <p:nvSpPr>
            <p:cNvPr id="32" name="Freeform 38"/>
            <p:cNvSpPr/>
            <p:nvPr/>
          </p:nvSpPr>
          <p:spPr>
            <a:xfrm>
              <a:off x="0" y="0"/>
              <a:ext cx="794182" cy="812800"/>
            </a:xfrm>
            <a:custGeom>
              <a:avLst/>
              <a:gdLst/>
              <a:ahLst/>
              <a:cxnLst/>
              <a:rect l="l" t="t" r="r" b="b"/>
              <a:pathLst>
                <a:path w="794182" h="812800">
                  <a:moveTo>
                    <a:pt x="36945" y="0"/>
                  </a:moveTo>
                  <a:lnTo>
                    <a:pt x="757237" y="0"/>
                  </a:lnTo>
                  <a:cubicBezTo>
                    <a:pt x="767035" y="0"/>
                    <a:pt x="776432" y="3892"/>
                    <a:pt x="783361" y="10821"/>
                  </a:cubicBezTo>
                  <a:cubicBezTo>
                    <a:pt x="790289" y="17749"/>
                    <a:pt x="794182" y="27146"/>
                    <a:pt x="794182" y="36945"/>
                  </a:cubicBezTo>
                  <a:lnTo>
                    <a:pt x="794182" y="775855"/>
                  </a:lnTo>
                  <a:cubicBezTo>
                    <a:pt x="794182" y="796259"/>
                    <a:pt x="777641" y="812800"/>
                    <a:pt x="757237" y="812800"/>
                  </a:cubicBezTo>
                  <a:lnTo>
                    <a:pt x="36945" y="812800"/>
                  </a:lnTo>
                  <a:cubicBezTo>
                    <a:pt x="27146" y="812800"/>
                    <a:pt x="17749" y="808908"/>
                    <a:pt x="10821" y="801979"/>
                  </a:cubicBezTo>
                  <a:cubicBezTo>
                    <a:pt x="3892" y="795051"/>
                    <a:pt x="0" y="785654"/>
                    <a:pt x="0" y="775855"/>
                  </a:cubicBezTo>
                  <a:lnTo>
                    <a:pt x="0" y="36945"/>
                  </a:lnTo>
                  <a:cubicBezTo>
                    <a:pt x="0" y="27146"/>
                    <a:pt x="3892" y="17749"/>
                    <a:pt x="10821" y="10821"/>
                  </a:cubicBezTo>
                  <a:cubicBezTo>
                    <a:pt x="17749" y="3892"/>
                    <a:pt x="27146" y="0"/>
                    <a:pt x="36945" y="0"/>
                  </a:cubicBezTo>
                  <a:close/>
                </a:path>
              </a:pathLst>
            </a:custGeom>
            <a:blipFill>
              <a:blip r:embed="rId7"/>
              <a:stretch>
                <a:fillRect r="-2344"/>
              </a:stretch>
            </a:blipFill>
          </p:spPr>
        </p:sp>
      </p:gr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airplane"/>
      </p:transition>
    </mc:Choice>
    <mc:Fallback>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8518" b="-68518"/>
            </a:stretch>
          </a:blipFill>
        </p:spPr>
      </p:sp>
      <p:grpSp>
        <p:nvGrpSpPr>
          <p:cNvPr id="3" name="Group 3"/>
          <p:cNvGrpSpPr/>
          <p:nvPr/>
        </p:nvGrpSpPr>
        <p:grpSpPr>
          <a:xfrm>
            <a:off x="1028700" y="1028700"/>
            <a:ext cx="312742" cy="812932"/>
            <a:chOff x="0" y="0"/>
            <a:chExt cx="82368" cy="214106"/>
          </a:xfrm>
        </p:grpSpPr>
        <p:sp>
          <p:nvSpPr>
            <p:cNvPr id="4" name="Freeform 4"/>
            <p:cNvSpPr/>
            <p:nvPr/>
          </p:nvSpPr>
          <p:spPr>
            <a:xfrm>
              <a:off x="0" y="0"/>
              <a:ext cx="82368" cy="214106"/>
            </a:xfrm>
            <a:custGeom>
              <a:avLst/>
              <a:gdLst/>
              <a:ahLst/>
              <a:cxnLst/>
              <a:rect l="l" t="t" r="r" b="b"/>
              <a:pathLst>
                <a:path w="82368" h="214106">
                  <a:moveTo>
                    <a:pt x="41184" y="0"/>
                  </a:moveTo>
                  <a:lnTo>
                    <a:pt x="41184" y="0"/>
                  </a:lnTo>
                  <a:cubicBezTo>
                    <a:pt x="52107" y="0"/>
                    <a:pt x="62582" y="4339"/>
                    <a:pt x="70306" y="12063"/>
                  </a:cubicBezTo>
                  <a:cubicBezTo>
                    <a:pt x="78029" y="19786"/>
                    <a:pt x="82368" y="30261"/>
                    <a:pt x="82368" y="41184"/>
                  </a:cubicBezTo>
                  <a:lnTo>
                    <a:pt x="82368" y="172921"/>
                  </a:lnTo>
                  <a:cubicBezTo>
                    <a:pt x="82368" y="183844"/>
                    <a:pt x="78029" y="194319"/>
                    <a:pt x="70306" y="202043"/>
                  </a:cubicBezTo>
                  <a:cubicBezTo>
                    <a:pt x="62582" y="209766"/>
                    <a:pt x="52107" y="214106"/>
                    <a:pt x="41184" y="214106"/>
                  </a:cubicBezTo>
                  <a:lnTo>
                    <a:pt x="41184" y="214106"/>
                  </a:lnTo>
                  <a:cubicBezTo>
                    <a:pt x="30261" y="214106"/>
                    <a:pt x="19786" y="209766"/>
                    <a:pt x="12063" y="202043"/>
                  </a:cubicBezTo>
                  <a:cubicBezTo>
                    <a:pt x="4339" y="194319"/>
                    <a:pt x="0" y="183844"/>
                    <a:pt x="0" y="172921"/>
                  </a:cubicBezTo>
                  <a:lnTo>
                    <a:pt x="0" y="41184"/>
                  </a:lnTo>
                  <a:cubicBezTo>
                    <a:pt x="0" y="30261"/>
                    <a:pt x="4339" y="19786"/>
                    <a:pt x="12063" y="12063"/>
                  </a:cubicBezTo>
                  <a:cubicBezTo>
                    <a:pt x="19786" y="4339"/>
                    <a:pt x="30261" y="0"/>
                    <a:pt x="41184" y="0"/>
                  </a:cubicBezTo>
                  <a:close/>
                </a:path>
              </a:pathLst>
            </a:custGeom>
            <a:solidFill>
              <a:srgbClr val="FFFFFF"/>
            </a:solidFill>
          </p:spPr>
        </p:sp>
        <p:sp>
          <p:nvSpPr>
            <p:cNvPr id="5" name="TextBox 5"/>
            <p:cNvSpPr txBox="1"/>
            <p:nvPr/>
          </p:nvSpPr>
          <p:spPr>
            <a:xfrm>
              <a:off x="0" y="-76200"/>
              <a:ext cx="82368" cy="290306"/>
            </a:xfrm>
            <a:prstGeom prst="rect">
              <a:avLst/>
            </a:prstGeom>
          </p:spPr>
          <p:txBody>
            <a:bodyPr lIns="50800" tIns="50800" rIns="50800" bIns="50800" rtlCol="0" anchor="ctr"/>
            <a:lstStyle/>
            <a:p>
              <a:pPr algn="ctr">
                <a:lnSpc>
                  <a:spcPts val="3500"/>
                </a:lnSpc>
              </a:pPr>
              <a:endParaRPr/>
            </a:p>
          </p:txBody>
        </p:sp>
      </p:grpSp>
      <p:grpSp>
        <p:nvGrpSpPr>
          <p:cNvPr id="7" name="Group 7"/>
          <p:cNvGrpSpPr/>
          <p:nvPr/>
        </p:nvGrpSpPr>
        <p:grpSpPr>
          <a:xfrm>
            <a:off x="4908719" y="3341838"/>
            <a:ext cx="12350581" cy="3623171"/>
            <a:chOff x="0" y="0"/>
            <a:chExt cx="3252828" cy="954251"/>
          </a:xfrm>
        </p:grpSpPr>
        <p:sp>
          <p:nvSpPr>
            <p:cNvPr id="8" name="Freeform 8"/>
            <p:cNvSpPr/>
            <p:nvPr/>
          </p:nvSpPr>
          <p:spPr>
            <a:xfrm>
              <a:off x="0" y="0"/>
              <a:ext cx="3252828" cy="954251"/>
            </a:xfrm>
            <a:custGeom>
              <a:avLst/>
              <a:gdLst/>
              <a:ahLst/>
              <a:cxnLst/>
              <a:rect l="l" t="t" r="r" b="b"/>
              <a:pathLst>
                <a:path w="3252828" h="954251">
                  <a:moveTo>
                    <a:pt x="25074" y="0"/>
                  </a:moveTo>
                  <a:lnTo>
                    <a:pt x="3227754" y="0"/>
                  </a:lnTo>
                  <a:cubicBezTo>
                    <a:pt x="3234404" y="0"/>
                    <a:pt x="3240782" y="2642"/>
                    <a:pt x="3245484" y="7344"/>
                  </a:cubicBezTo>
                  <a:cubicBezTo>
                    <a:pt x="3250186" y="12046"/>
                    <a:pt x="3252828" y="18424"/>
                    <a:pt x="3252828" y="25074"/>
                  </a:cubicBezTo>
                  <a:lnTo>
                    <a:pt x="3252828" y="929177"/>
                  </a:lnTo>
                  <a:cubicBezTo>
                    <a:pt x="3252828" y="935827"/>
                    <a:pt x="3250186" y="942205"/>
                    <a:pt x="3245484" y="946907"/>
                  </a:cubicBezTo>
                  <a:cubicBezTo>
                    <a:pt x="3240782" y="951609"/>
                    <a:pt x="3234404" y="954251"/>
                    <a:pt x="3227754" y="954251"/>
                  </a:cubicBezTo>
                  <a:lnTo>
                    <a:pt x="25074" y="954251"/>
                  </a:lnTo>
                  <a:cubicBezTo>
                    <a:pt x="18424" y="954251"/>
                    <a:pt x="12046" y="951609"/>
                    <a:pt x="7344" y="946907"/>
                  </a:cubicBezTo>
                  <a:cubicBezTo>
                    <a:pt x="2642" y="942205"/>
                    <a:pt x="0" y="935827"/>
                    <a:pt x="0" y="929177"/>
                  </a:cubicBezTo>
                  <a:lnTo>
                    <a:pt x="0" y="25074"/>
                  </a:lnTo>
                  <a:cubicBezTo>
                    <a:pt x="0" y="18424"/>
                    <a:pt x="2642" y="12046"/>
                    <a:pt x="7344" y="7344"/>
                  </a:cubicBezTo>
                  <a:cubicBezTo>
                    <a:pt x="12046" y="2642"/>
                    <a:pt x="18424" y="0"/>
                    <a:pt x="25074" y="0"/>
                  </a:cubicBezTo>
                  <a:close/>
                </a:path>
              </a:pathLst>
            </a:custGeom>
            <a:solidFill>
              <a:srgbClr val="FFFFFF"/>
            </a:solidFill>
          </p:spPr>
        </p:sp>
        <p:sp>
          <p:nvSpPr>
            <p:cNvPr id="9" name="TextBox 9"/>
            <p:cNvSpPr txBox="1"/>
            <p:nvPr/>
          </p:nvSpPr>
          <p:spPr>
            <a:xfrm>
              <a:off x="0" y="-76200"/>
              <a:ext cx="3252828" cy="1030451"/>
            </a:xfrm>
            <a:prstGeom prst="rect">
              <a:avLst/>
            </a:prstGeom>
          </p:spPr>
          <p:txBody>
            <a:bodyPr lIns="50800" tIns="50800" rIns="50800" bIns="50800" rtlCol="0" anchor="ctr"/>
            <a:lstStyle/>
            <a:p>
              <a:pPr algn="ctr">
                <a:lnSpc>
                  <a:spcPts val="3500"/>
                </a:lnSpc>
              </a:pPr>
              <a:endParaRPr/>
            </a:p>
          </p:txBody>
        </p:sp>
      </p:grpSp>
      <p:sp>
        <p:nvSpPr>
          <p:cNvPr id="10" name="TextBox 10"/>
          <p:cNvSpPr txBox="1"/>
          <p:nvPr/>
        </p:nvSpPr>
        <p:spPr>
          <a:xfrm>
            <a:off x="5784651" y="3687983"/>
            <a:ext cx="10598718" cy="2530830"/>
          </a:xfrm>
          <a:prstGeom prst="rect">
            <a:avLst/>
          </a:prstGeom>
        </p:spPr>
        <p:txBody>
          <a:bodyPr lIns="0" tIns="0" rIns="0" bIns="0" rtlCol="0" anchor="t">
            <a:spAutoFit/>
          </a:bodyPr>
          <a:lstStyle/>
          <a:p>
            <a:pPr algn="ctr">
              <a:lnSpc>
                <a:spcPts val="19584"/>
              </a:lnSpc>
              <a:spcBef>
                <a:spcPct val="0"/>
              </a:spcBef>
            </a:pPr>
            <a:r>
              <a:rPr lang="en-US" sz="13988" b="1">
                <a:solidFill>
                  <a:srgbClr val="131D44"/>
                </a:solidFill>
                <a:latin typeface="Poppins Bold"/>
                <a:ea typeface="Poppins Bold"/>
                <a:cs typeface="Poppins Bold"/>
                <a:sym typeface="Poppins Bold"/>
              </a:rPr>
              <a:t>THANK YOU</a:t>
            </a:r>
          </a:p>
        </p:txBody>
      </p:sp>
      <p:sp>
        <p:nvSpPr>
          <p:cNvPr id="13" name="Freeform 13"/>
          <p:cNvSpPr/>
          <p:nvPr/>
        </p:nvSpPr>
        <p:spPr>
          <a:xfrm>
            <a:off x="-1811586" y="3341838"/>
            <a:ext cx="3623171" cy="3623171"/>
          </a:xfrm>
          <a:custGeom>
            <a:avLst/>
            <a:gdLst/>
            <a:ahLst/>
            <a:cxnLst/>
            <a:rect l="l" t="t" r="r" b="b"/>
            <a:pathLst>
              <a:path w="3623171" h="3623171">
                <a:moveTo>
                  <a:pt x="0" y="0"/>
                </a:moveTo>
                <a:lnTo>
                  <a:pt x="3623172" y="0"/>
                </a:lnTo>
                <a:lnTo>
                  <a:pt x="3623172" y="3623171"/>
                </a:lnTo>
                <a:lnTo>
                  <a:pt x="0" y="3623171"/>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14" name="Freeform 14"/>
          <p:cNvSpPr/>
          <p:nvPr/>
        </p:nvSpPr>
        <p:spPr>
          <a:xfrm>
            <a:off x="16460637" y="1042969"/>
            <a:ext cx="798663" cy="798663"/>
          </a:xfrm>
          <a:custGeom>
            <a:avLst/>
            <a:gdLst/>
            <a:ahLst/>
            <a:cxnLst/>
            <a:rect l="l" t="t" r="r" b="b"/>
            <a:pathLst>
              <a:path w="798663" h="798663">
                <a:moveTo>
                  <a:pt x="0" y="0"/>
                </a:moveTo>
                <a:lnTo>
                  <a:pt x="798663" y="0"/>
                </a:lnTo>
                <a:lnTo>
                  <a:pt x="798663" y="798663"/>
                </a:lnTo>
                <a:lnTo>
                  <a:pt x="0" y="798663"/>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15" name="Freeform 15"/>
          <p:cNvSpPr/>
          <p:nvPr/>
        </p:nvSpPr>
        <p:spPr>
          <a:xfrm>
            <a:off x="8619397" y="8382913"/>
            <a:ext cx="875387" cy="875387"/>
          </a:xfrm>
          <a:custGeom>
            <a:avLst/>
            <a:gdLst/>
            <a:ahLst/>
            <a:cxnLst/>
            <a:rect l="l" t="t" r="r" b="b"/>
            <a:pathLst>
              <a:path w="875387" h="875387">
                <a:moveTo>
                  <a:pt x="0" y="0"/>
                </a:moveTo>
                <a:lnTo>
                  <a:pt x="875387" y="0"/>
                </a:lnTo>
                <a:lnTo>
                  <a:pt x="875387" y="875387"/>
                </a:lnTo>
                <a:lnTo>
                  <a:pt x="0" y="875387"/>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16" name="Freeform 16"/>
          <p:cNvSpPr/>
          <p:nvPr/>
        </p:nvSpPr>
        <p:spPr>
          <a:xfrm>
            <a:off x="13636129" y="8475414"/>
            <a:ext cx="3623171" cy="3623171"/>
          </a:xfrm>
          <a:custGeom>
            <a:avLst/>
            <a:gdLst/>
            <a:ahLst/>
            <a:cxnLst/>
            <a:rect l="l" t="t" r="r" b="b"/>
            <a:pathLst>
              <a:path w="3623171" h="3623171">
                <a:moveTo>
                  <a:pt x="0" y="0"/>
                </a:moveTo>
                <a:lnTo>
                  <a:pt x="3623171" y="0"/>
                </a:lnTo>
                <a:lnTo>
                  <a:pt x="3623171" y="3623172"/>
                </a:lnTo>
                <a:lnTo>
                  <a:pt x="0" y="3623172"/>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17" name="Freeform 17"/>
          <p:cNvSpPr/>
          <p:nvPr/>
        </p:nvSpPr>
        <p:spPr>
          <a:xfrm>
            <a:off x="8082946" y="-1811586"/>
            <a:ext cx="3623171" cy="3623171"/>
          </a:xfrm>
          <a:custGeom>
            <a:avLst/>
            <a:gdLst/>
            <a:ahLst/>
            <a:cxnLst/>
            <a:rect l="l" t="t" r="r" b="b"/>
            <a:pathLst>
              <a:path w="3623171" h="3623171">
                <a:moveTo>
                  <a:pt x="0" y="0"/>
                </a:moveTo>
                <a:lnTo>
                  <a:pt x="3623171" y="0"/>
                </a:lnTo>
                <a:lnTo>
                  <a:pt x="3623171" y="3623172"/>
                </a:lnTo>
                <a:lnTo>
                  <a:pt x="0" y="3623172"/>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spTree>
  </p:cSld>
  <p:clrMapOvr>
    <a:masterClrMapping/>
  </p:clrMapOvr>
  <mc:AlternateContent xmlns:mc="http://schemas.openxmlformats.org/markup-compatibility/2006">
    <mc:Choice xmlns:p14="http://schemas.microsoft.com/office/powerpoint/2010/main" Requires="p14">
      <p:transition spd="slow" p14:dur="1250">
        <p14:flip dir="r"/>
      </p:transition>
    </mc:Choice>
    <mc:Fallback>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109</TotalTime>
  <Words>471</Words>
  <Application>Microsoft Office PowerPoint</Application>
  <PresentationFormat>Custom</PresentationFormat>
  <Paragraphs>41</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Calibri</vt:lpstr>
      <vt:lpstr>Wingdings</vt:lpstr>
      <vt:lpstr>Arial</vt:lpstr>
      <vt:lpstr>Poppins</vt:lpstr>
      <vt:lpstr>Poppins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And White Modern Facing The Era Of Transformation Presentation</dc:title>
  <dc:creator>RASI</dc:creator>
  <cp:lastModifiedBy>RASI</cp:lastModifiedBy>
  <cp:revision>13</cp:revision>
  <dcterms:created xsi:type="dcterms:W3CDTF">2006-08-16T00:00:00Z</dcterms:created>
  <dcterms:modified xsi:type="dcterms:W3CDTF">2026-02-19T05:33:21Z</dcterms:modified>
  <dc:identifier>DAHBsAi38QE</dc:identifier>
</cp:coreProperties>
</file>